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6c7ccc4f6c4874" /><Relationship Type="http://schemas.openxmlformats.org/officeDocument/2006/relationships/extended-properties" Target="/docProps/app.xml" Id="R7ab28840e5d4460c" /><Relationship Type="http://schemas.openxmlformats.org/officeDocument/2006/relationships/officeDocument" Target="/ppt/presentation.xml" Id="R0d193d65b7c54d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c1bd4386764811"/>
  </p:sldMasterIdLst>
  <p:notesMasterIdLst>
    <p:notesMasterId xmlns:r="http://schemas.openxmlformats.org/officeDocument/2006/relationships" r:id="Ra51e99fd69d14fc5"/>
  </p:notesMasterIdLst>
  <p:sldIdLst>
    <p:sldId xmlns:r="http://schemas.openxmlformats.org/officeDocument/2006/relationships" id="256" r:id="R3e0017bcf7634bee"/>
    <p:sldId xmlns:r="http://schemas.openxmlformats.org/officeDocument/2006/relationships" id="257" r:id="Ref3184c3b9fc47b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99d1d5e49624488" /><Relationship Type="http://schemas.openxmlformats.org/officeDocument/2006/relationships/slideMaster" Target="/ppt/slideMasters/slideMaster1.xml" Id="R93c1bd4386764811" /><Relationship Type="http://schemas.openxmlformats.org/officeDocument/2006/relationships/notesMaster" Target="/ppt/notesMasters/notesMaster1.xml" Id="Ra51e99fd69d14fc5" /><Relationship Type="http://schemas.openxmlformats.org/officeDocument/2006/relationships/presProps" Target="/ppt/presProps.xml" Id="R964cdb6c3e034d59" /><Relationship Type="http://schemas.openxmlformats.org/officeDocument/2006/relationships/tableStyles" Target="/ppt/tableStyles.xml" Id="Rd7f675d486f446a5" /><Relationship Type="http://schemas.openxmlformats.org/officeDocument/2006/relationships/slide" Target="/ppt/slides/slide1.xml" Id="R3e0017bcf7634bee" /><Relationship Type="http://schemas.openxmlformats.org/officeDocument/2006/relationships/slide" Target="/ppt/slides/slide2.xml" Id="Ref3184c3b9fc47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7c1b8a547f4b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d4eca276ec4eea" /><Relationship Type="http://schemas.openxmlformats.org/officeDocument/2006/relationships/notesMaster" Target="/ppt/notesMasters/notesMaster1.xml" Id="R74cc4dfbfcf244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8ec62c5c874cd7" /><Relationship Type="http://schemas.openxmlformats.org/officeDocument/2006/relationships/notesMaster" Target="/ppt/notesMasters/notesMaster1.xml" Id="Rb09cef6e44dc40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依据：D:\FL\experiments\exp0_simple1bit_compare.py、D:\FL\experiments\exp1_1bit_2bit_noscale_compare.py、D:\FL\compression\srk.py、D:\FL\compression\kashin_frame.py。流程是对仓库当前实现的归纳。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依据：D:\FL\experiments\exp0_simple1bit_compare.py；D:\FL\experiments\exp1_1bit_2bit_noscale_compare.py；D:\FL\compression\srk.py；D:\FL\compression\kashin_frame.py；D:\FL\compression\kashin_solver.py。说明：Hadamard 的 exp1 seed 固定，exp0 seed 随轮次变化；Kashin frame 在 exp1 中使用 Fourier 紧框架，不是 FWHT。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991170222b45c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f4bcd64cfd493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0a3387ca4640a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60b0a9b1a94d0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57401f723f4c9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3a5b0f077f44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BFC4857-7127-4792-9139-1A29CBE266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CB53CDE-B4C7-4452-9E91-A334582B699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B8A5A32-A395-4331-AB17-3CFC063C84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38039A8-BCC9-4FE8-9003-670E9FE6AA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D9BC0F8-25AC-4FB6-8311-C833FD3671F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AEDE2B3-C3F2-4D8A-93CD-4E167411CD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F4513BC-8CF5-405D-B01D-9AC852DB75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0C77854-B373-4251-9667-CE5BAE10512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129C885-2FE6-43CE-B397-BA89AA2797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ABED154-1A0A-4955-9F38-819939B9937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e6e9b387404e0e" /><Relationship Type="http://schemas.openxmlformats.org/officeDocument/2006/relationships/slideLayout" Target="/ppt/slideLayouts/slideLayout1.xml" Id="Re2c6bba52dd04777" /><Relationship Type="http://schemas.openxmlformats.org/officeDocument/2006/relationships/slideLayout" Target="/ppt/slideLayouts/slideLayout2.xml" Id="Rff363975d5f74dd5" /><Relationship Type="http://schemas.openxmlformats.org/officeDocument/2006/relationships/slideLayout" Target="/ppt/slideLayouts/slideLayout3.xml" Id="Rbacd0e5cf1ca466f" /><Relationship Type="http://schemas.openxmlformats.org/officeDocument/2006/relationships/slideLayout" Target="/ppt/slideLayouts/slideLayout4.xml" Id="Rd0fb4962a0c348cf" /><Relationship Type="http://schemas.openxmlformats.org/officeDocument/2006/relationships/slideLayout" Target="/ppt/slideLayouts/slideLayout5.xml" Id="R1fc53944795249e6" /><Relationship Type="http://schemas.openxmlformats.org/officeDocument/2006/relationships/slideLayout" Target="/ppt/slideLayouts/slideLayout6.xml" Id="R9c0451912a6c481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c6bba52dd04777"/>
    <p:sldLayoutId xmlns:r="http://schemas.openxmlformats.org/officeDocument/2006/relationships" id="2147483650" r:id="Rff363975d5f74dd5"/>
    <p:sldLayoutId xmlns:r="http://schemas.openxmlformats.org/officeDocument/2006/relationships" id="2147483651" r:id="Rbacd0e5cf1ca466f"/>
    <p:sldLayoutId xmlns:r="http://schemas.openxmlformats.org/officeDocument/2006/relationships" id="2147483652" r:id="Rd0fb4962a0c348cf"/>
    <p:sldLayoutId xmlns:r="http://schemas.openxmlformats.org/officeDocument/2006/relationships" id="2147483653" r:id="R1fc53944795249e6"/>
    <p:sldLayoutId xmlns:r="http://schemas.openxmlformats.org/officeDocument/2006/relationships" id="2147483654" r:id="R9c0451912a6c48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0e40163f274b25" /><Relationship Type="http://schemas.openxmlformats.org/officeDocument/2006/relationships/notesSlide" Target="/ppt/notesSlides/notesSlide1.xml" Id="R84dfdd0b8d4642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65d1913bfd4dca" /><Relationship Type="http://schemas.openxmlformats.org/officeDocument/2006/relationships/notesSlide" Target="/ppt/notesSlides/notesSlide2.xml" Id="R92d42ea641be4fb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CF5DCF-B79E-4D98-9222-836912A0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rPr>
              <a:t>压缩实验的端到端流程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81B3B5-37C1-406D-A324-49493094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361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361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176"/>
                </a:solidFill>
                <a:latin typeface="Microsoft YaHei"/>
                <a:ea typeface="Microsoft YaHei"/>
                <a:cs typeface="Microsoft YaHei"/>
              </a:rPr>
              <a:t>把客户端压缩器与联邦聚合/更新分开看：六个环节可对齐，具体算法只替换其中几步。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6BA95E-A7A9-43C9-BAD4-8B694AE3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2A22D5-5C0B-406B-8B2D-294B3CD61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23812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D7BF0C-94E4-4799-A422-9FA87F3A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575B30-A4CB-4F7B-8889-E42D2DE7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2868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868A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868A6"/>
                </a:solidFill>
                <a:latin typeface="Arial"/>
                <a:ea typeface="Arial"/>
                <a:cs typeface="Arial"/>
              </a:rPr>
              <a:t>01–02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5EE151-163B-4D82-B1C5-33E250C43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2000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rPr>
              <a:t>客户端输入与表示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09D2CA-A642-4BDF-AFD8-C425A24D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200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66D089-DFE3-4F69-AD5A-DD8EFFE2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14675"/>
            <a:ext cx="200025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rPr>
              <a:t>本地更新  Δ = w_local − w_t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rPr>
              <a:t>Raw：原空间</a:t>
            </a:r>
          </a:p>
          <a:p xmlns:a="http://schemas.openxmlformats.org/drawingml/2006/main">
            <a:pPr algn="l">
              <a:def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rPr>
              <a:t>Hadamard：随机符号掩码 + FWHT</a:t>
            </a:r>
          </a:p>
          <a:p xmlns:a="http://schemas.openxmlformats.org/drawingml/2006/main">
            <a:pPr algn="l">
              <a:def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rPr>
              <a:t>Kashin：Fourier 紧框架系数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4BAC55-3C7F-45BF-8D96-E3610579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943100"/>
            <a:ext cx="23812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33B061-1F91-4952-BDB0-569F1B0A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94310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43AA21-07BE-46A0-B2C9-D157FD25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7170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68A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68A8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8A8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D05F00-90BD-466D-B368-27A854BC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95550"/>
            <a:ext cx="2000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rPr>
              <a:t>编码与量化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47A7E4-B119-40B8-A56C-E38D70A7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62275"/>
            <a:ext cx="200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C2F675-E940-428A-AEA8-0E3C6268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14675"/>
            <a:ext cx="200025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rPr>
              <a:t>1-bit：符号编码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rPr>
              <a:t>2/3-bit：固定 clip 区间内随机舍入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rPr>
              <a:t>exp1 的 clip 由首轮 p99.5 标定，后续固定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28974A-0736-4597-8060-15F09A29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43100"/>
            <a:ext cx="23812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294D58-9574-49A0-B05C-F0E1614E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4310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A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8D5658-D176-43FC-A15D-A4336F32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7170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76A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B76A2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76A2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9E871F-0CBC-403E-BE8D-7276AC2E7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95550"/>
            <a:ext cx="2000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rPr>
              <a:t>信道负载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7E0556-4870-4B76-9BA9-628144536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62275"/>
            <a:ext cx="200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6C22CB-48AE-4447-B677-D050F171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14675"/>
            <a:ext cx="200025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rPr>
              <a:t>Raw：d × 32-bit 浮点数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rPr>
              <a:t>压缩向量：d × b 或 D × b 位索引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rPr>
              <a:t>seed 预先约定；不逐轮发送动态 Scale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00283B-E2F3-46EE-A051-09E112BE2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943100"/>
            <a:ext cx="23812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1048FC-9A9E-444F-BA9A-36E63779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94310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FE3B38-1FC0-4720-BB7E-563894ED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7170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156A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156A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156A5"/>
                </a:solidFill>
                <a:latin typeface="Arial"/>
                <a:ea typeface="Arial"/>
                <a:cs typeface="Arial"/>
              </a:rPr>
              <a:t>05–06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14A86D-3824-44C6-9FB0-C20A89B5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95550"/>
            <a:ext cx="2000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rPr>
              <a:t>服务器解码与更新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826FE3-9948-431D-8E26-7FABB8EA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962275"/>
            <a:ext cx="200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5D8E40-C8B4-4150-81F4-BF98F4E52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14675"/>
            <a:ext cx="200025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rPr>
              <a:t>查表还原量化值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rPr>
              <a:t>Hadamard：逆 FWHT 并裁回 d 维</a:t>
            </a:r>
          </a:p>
          <a:p xmlns:a="http://schemas.openxmlformats.org/drawingml/2006/main">
            <a:pPr algn="l">
              <a:def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rPr>
              <a:t>Kashin：框架合成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rPr>
              <a:t>w_{t+1} = w_t + Δ̂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C69DC1-00FB-4DD2-BC23-147FF97A7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48025"/>
            <a:ext cx="2286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884C41-30AE-464B-AB4F-3BC83AE22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48025"/>
            <a:ext cx="2286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3C4C7F-9C44-45CD-9DEB-2791AE326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48025"/>
            <a:ext cx="2286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4DDE0E-4242-4E94-8F06-8BD1528B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43525"/>
            <a:ext cx="10972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6BD8E9-9AA0-48F1-A860-C987FD88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67350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868A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86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868A6"/>
                </a:solidFill>
                <a:latin typeface="Microsoft YaHei"/>
                <a:ea typeface="Microsoft YaHei"/>
                <a:cs typeface="Microsoft YaHei"/>
              </a:rPr>
              <a:t>层级边界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0723DC-F679-4BE8-A0BA-EA4FB702F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429250"/>
            <a:ext cx="9382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rPr>
              <a:t>FedAvg 规定本地训练后的聚合与模型更新；SignSGD、Hadamard、Kashin 描述更新如何编码/传输。它们可以组合，不能当作同一层的互斥算法。</a:t>
            </a:r>
          </a:p>
        </p:txBody>
      </p:sp>
    </p:spTree>
    <p:extLst>
      <p:ext uri="{BB962C8B-B14F-4D97-AF65-F5344CB8AC3E}">
        <p14:creationId xmlns:p14="http://schemas.microsoft.com/office/powerpoint/2010/main" val="6688770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97FD95-5CE4-4211-BB26-E07EBF91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rPr>
              <a:t>实验方法与通信协议对齐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64BC37-67EB-4518-B34E-F03CA3EB5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361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361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176"/>
                </a:solidFill>
                <a:latin typeface="Microsoft YaHei"/>
                <a:ea typeface="Microsoft YaHei"/>
                <a:cs typeface="Microsoft YaHei"/>
              </a:rPr>
              <a:t>按“表示变换 → 量化 → 负载/缩放 → 解码/更新”比较；配置取自当前 exp0、exp1 代码。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D9D051-0160-4AEF-A9D9-0B098C97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A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99C3E7-224B-4806-A936-949CADD74019}"/>
              </a:ext>
            </a:extLst>
          </p:cNvPr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10972800" cy="4057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95450"/>
                <a:gridCol w="2857500"/>
                <a:gridCol w="3143250"/>
                <a:gridCol w="3276600"/>
              </a:tblGrid>
              <a:tr h="457200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27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27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环节 1–2｜输入与表示变换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27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环节 3｜编码与量化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27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环节 4–6｜负载、解码与更新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4EBF4"/>
                    </a:solidFill>
                  </a:tcPr>
                </a:tc>
              </a:tr>
              <a:tr h="723900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163" b="1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FedAvg</a:t>
                      </a:r>
                    </a:p>
                    <a:p>
                      <a:r>
                        <a:rPr sz="1163" b="1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未压缩参考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163" b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更新 Δ ∈ Rᵈ</a:t>
                      </a:r>
                    </a:p>
                    <a:p>
                      <a:r>
                        <a:rPr sz="1163" b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无掩码、无变换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163" b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不量化</a:t>
                      </a:r>
                    </a:p>
                    <a:p>
                      <a:r>
                        <a:rPr sz="1163" b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 FP32 浮点数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163" b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 32d bit/客户端</a:t>
                      </a:r>
                    </a:p>
                    <a:p>
                      <a:r>
                        <a:rPr sz="1163" b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样本量加权聚合，再更新全局模型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163" b="1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Raw / SignSGD</a:t>
                      </a:r>
                    </a:p>
                    <a:p>
                      <a:r>
                        <a:rPr sz="1163" b="1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/ 2 / 3-bit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163" b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原空间 Δ ∈ Rᵈ</a:t>
                      </a:r>
                    </a:p>
                    <a:p>
                      <a:r>
                        <a:rPr sz="1163" b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无旋转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163" b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1-bit：确定性 sign × 固定 clip</a:t>
                      </a:r>
                    </a:p>
                    <a:p>
                      <a:r>
                        <a:rPr sz="1163" b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2/3-bit：固定区间随机舍入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163" b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 × b 位索引</a:t>
                      </a:r>
                    </a:p>
                    <a:p>
                      <a:r>
                        <a:rPr sz="1163" b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不传动态 Scale；还原值直接作为更新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</a:tr>
              <a:tr h="1104900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163" b="1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Hadamard</a:t>
                      </a:r>
                    </a:p>
                    <a:p>
                      <a:r>
                        <a:rPr sz="1163" b="1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/ 2 / 3-bit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163" b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补零至 D=2^⌈log₂d⌉</a:t>
                      </a:r>
                    </a:p>
                    <a:p>
                      <a:r>
                        <a:rPr sz="1163" b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R=HDₛ：随机符号掩码 + 归一化 FWHT</a:t>
                      </a:r>
                    </a:p>
                    <a:p>
                      <a:r>
                        <a:rPr sz="1163" b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exp1 固定 seed；exp0 每轮换 seed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163" b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exp1：1-bit sign × 固定 clip</a:t>
                      </a:r>
                    </a:p>
                    <a:p>
                      <a:r>
                        <a:rPr sz="1163" b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2/3-bit 固定区间随机舍入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163" b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 × b 位索引；seed 预先共享</a:t>
                      </a:r>
                    </a:p>
                    <a:p>
                      <a:r>
                        <a:rPr sz="1163" b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逆 FWHT、裁回 d 维后更新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33450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163" b="1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Kashin</a:t>
                      </a:r>
                    </a:p>
                    <a:p>
                      <a:r>
                        <a:rPr sz="1163" b="1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λ = 1.15 / 1.3 / 1.6 / 2.0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163" b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Fourier 紧框架，D≈λd</a:t>
                      </a:r>
                    </a:p>
                    <a:p>
                      <a:r>
                        <a:rPr sz="1163" b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迭代求 Kashin 系数（exp1 为 25 次）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163" b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1-bit sign × 固定 clip</a:t>
                      </a:r>
                    </a:p>
                    <a:p>
                      <a:r>
                        <a:rPr sz="1163" b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2/3-bit 固定区间随机舍入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163" b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 × b 位索引；不传动态 Scale</a:t>
                      </a:r>
                    </a:p>
                    <a:p>
                      <a:r>
                        <a:rPr sz="1163" b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框架合成还原后更新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689643-9B9A-4507-AD55-F0CAD82CA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1DA9DE-6004-4D02-8BAF-89F3CC9D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91225"/>
            <a:ext cx="904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76A2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B76A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76A25"/>
                </a:solidFill>
                <a:latin typeface="Microsoft YaHei"/>
                <a:ea typeface="Microsoft YaHei"/>
                <a:cs typeface="Microsoft YaHei"/>
              </a:rPr>
              <a:t>实现差异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DCD217-1CB6-402D-89B8-3ED6FC05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943600"/>
            <a:ext cx="960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rPr>
              <a:t>FedAvg 行作未压缩参照；exp0/exp1 每轮为单客户端更新。exp0 用 min–max 随机量化并在逆变换后取 sign；exp1 clip 首轮 p99.5 标定后固定。位数按索引负载估算，不含协议头。</a:t>
            </a:r>
          </a:p>
        </p:txBody>
      </p:sp>
    </p:spTree>
    <p:extLst>
      <p:ext uri="{BB962C8B-B14F-4D97-AF65-F5344CB8AC3E}">
        <p14:creationId xmlns:p14="http://schemas.microsoft.com/office/powerpoint/2010/main" val="7648557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2026-10-19T14:03:54.4650000Z</dcterms:created>
  <dcterms:modified xsi:type="dcterms:W3CDTF">2026-10-19T14:03:54.4650000Z</dcterms:modified>
</coreProperties>
</file>