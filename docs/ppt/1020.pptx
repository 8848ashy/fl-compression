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63" r:id="rId5"/>
    <p:sldId id="258" r:id="rId6"/>
    <p:sldId id="264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356AF-55FF-B1B9-E025-DFC52F1B2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F943B4-70D8-50C7-EC27-74C52102D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61AD1-393F-292A-7E3E-6A192F47A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DE98D-0FD7-D9E4-6453-769EAD12625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9752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E34BB-780F-5C5B-89C5-83DD0757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50B80-BA9B-4910-9562-A2DB6AAD1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7C1EE-AC57-37FC-F392-32252CE72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6A9DC-2E8B-5B36-6195-A9CFBFFCD5C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5740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9AC05-BFBD-24BA-F380-9E41D9B0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352DA-A9FE-88B9-7192-DADB5804C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BE2E7-55C5-6E0D-E1E1-730ADDFC4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实验：experiments.matched_distortion；结果目录 results/20260917_235716_matched_distortion/。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FF79F-AD2C-98A6-D291-9D5813BD663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0561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41441A1-D4D6-4484-88D4-871A43F84734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n-US" sz="3150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10.20</a:t>
            </a:r>
            <a:r>
              <a:rPr lang="zh-CN" altLang="en-US" sz="3150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汇报</a:t>
            </a:r>
            <a:endParaRPr sz="3150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783B05-FE0B-4CF2-A45C-9B0085D0F566}"/>
              </a:ext>
            </a:extLst>
          </p:cNvPr>
          <p:cNvSpPr>
            <a:spLocks noGrp="1"/>
          </p:cNvSpPr>
          <p:nvPr/>
        </p:nvSpPr>
        <p:spPr>
          <a:xfrm>
            <a:off x="762000" y="2524125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9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检查代码，解决之前提到的问题</a:t>
            </a:r>
            <a:endParaRPr sz="1950" b="1" dirty="0">
              <a:solidFill>
                <a:srgbClr val="2E75B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707526-F697-4546-A1B8-ED30B4689262}"/>
              </a:ext>
            </a:extLst>
          </p:cNvPr>
          <p:cNvSpPr>
            <a:spLocks noGrp="1"/>
          </p:cNvSpPr>
          <p:nvPr/>
        </p:nvSpPr>
        <p:spPr>
          <a:xfrm>
            <a:off x="1066800" y="3162300"/>
            <a:ext cx="1026795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10000"/>
          </a:bodyPr>
          <a:lstStyle/>
          <a:p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 </a:t>
            </a:r>
            <a:r>
              <a:rPr lang="zh-CN" altLang="en-US" sz="2025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为什么</a:t>
            </a:r>
            <a:r>
              <a:rPr lang="en-US" altLang="zh-CN" sz="2025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1bit</a:t>
            </a:r>
            <a:r>
              <a:rPr lang="zh-CN" altLang="en-US" sz="2025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下训练准确率不是</a:t>
            </a:r>
            <a:r>
              <a:rPr lang="en-US" altLang="zh-CN" sz="2025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10%</a:t>
            </a:r>
            <a:endParaRPr sz="2025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2. </a:t>
            </a:r>
            <a:r>
              <a:rPr lang="zh-CN" altLang="en-US" sz="2025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在准确率随每维度比特数增长的图中，为什么不符合通信开销越大准确率越好的常识</a:t>
            </a:r>
            <a:endParaRPr lang="en-US" altLang="zh-CN" sz="2025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lang="en-US" sz="2025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3.</a:t>
            </a:r>
            <a:r>
              <a:rPr lang="zh-CN" altLang="en-US" sz="2025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每次</a:t>
            </a:r>
            <a:r>
              <a:rPr lang="en-US" altLang="zh-CN" sz="2025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client</a:t>
            </a:r>
            <a:r>
              <a:rPr lang="zh-CN" altLang="en-US" sz="2025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向</a:t>
            </a:r>
            <a:r>
              <a:rPr lang="en-US" altLang="zh-CN" sz="2025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server</a:t>
            </a:r>
            <a:r>
              <a:rPr lang="zh-CN" altLang="en-US" sz="2025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传输的信息包含什么</a:t>
            </a:r>
            <a:endParaRPr sz="2025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274DBA-2B90-4BF8-8928-EAC3189AB55D}"/>
              </a:ext>
            </a:extLst>
          </p:cNvPr>
          <p:cNvSpPr>
            <a:spLocks noGrp="1"/>
          </p:cNvSpPr>
          <p:nvPr/>
        </p:nvSpPr>
        <p:spPr>
          <a:xfrm>
            <a:off x="762000" y="50673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MNIST + MLP；联邦学习上传模型更新；2026.</a:t>
            </a:r>
            <a:r>
              <a:rPr lang="en-US" sz="1425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10.20</a:t>
            </a:r>
            <a:endParaRPr sz="1425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4BF87C-1B7F-4675-A3AB-9E704BE5F820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667" lnSpcReduction="20000"/>
          </a:bodyPr>
          <a:lstStyle/>
          <a:p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43758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C908C8F-801A-41DF-B66E-5181FFBE404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endParaRPr sz="232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229AB4-C613-4B9C-9889-9219D980F47B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01400" cy="28575"/>
          </a:xfrm>
          <a:prstGeom prst="rect">
            <a:avLst/>
          </a:prstGeom>
          <a:solidFill>
            <a:srgbClr val="2E75B6"/>
          </a:solidFill>
          <a:ln w="0">
            <a:solidFill>
              <a:srgbClr val="2E75B6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E7227-C6EB-453A-BD19-31A9F1E5246B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667" lnSpcReduction="20000"/>
          </a:bodyPr>
          <a:lstStyle/>
          <a:p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97EA33-38A3-C481-F145-8FAD441AB890}"/>
              </a:ext>
            </a:extLst>
          </p:cNvPr>
          <p:cNvSpPr>
            <a:spLocks noGrp="1"/>
          </p:cNvSpPr>
          <p:nvPr/>
        </p:nvSpPr>
        <p:spPr>
          <a:xfrm>
            <a:off x="647700" y="4572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实验的总环节</a:t>
            </a:r>
            <a:endParaRPr sz="232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2D9166F-A273-3EF1-B2C2-D99448729C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8117511"/>
              </p:ext>
            </p:extLst>
          </p:nvPr>
        </p:nvGraphicFramePr>
        <p:xfrm>
          <a:off x="495300" y="1183105"/>
          <a:ext cx="10972801" cy="4582752"/>
        </p:xfrm>
        <a:graphic>
          <a:graphicData uri="http://schemas.openxmlformats.org/drawingml/2006/table">
            <a:tbl>
              <a:tblPr/>
              <a:tblGrid>
                <a:gridCol w="1055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714">
                  <a:extLst>
                    <a:ext uri="{9D8B030D-6E8A-4147-A177-3AD203B41FA5}">
                      <a16:colId xmlns:a16="http://schemas.microsoft.com/office/drawing/2014/main" val="3263313549"/>
                    </a:ext>
                  </a:extLst>
                </a:gridCol>
                <a:gridCol w="2477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2919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方法族</a:t>
                      </a:r>
                      <a:endParaRPr sz="1200" b="1" dirty="0">
                        <a:solidFill>
                          <a:srgbClr val="2738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  <a:r>
                        <a:rPr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1–2｜输入与表示变换</a:t>
                      </a:r>
                      <a:endParaRPr lang="en-US" sz="1200" b="1" dirty="0">
                        <a:solidFill>
                          <a:srgbClr val="2738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endParaRPr lang="en-US" sz="1200" b="1" dirty="0">
                        <a:solidFill>
                          <a:srgbClr val="2738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lang="zh-CN" altLang="en-US"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记更新的梯度为</a:t>
                      </a:r>
                      <a:r>
                        <a:rPr lang="el-GR" altLang="zh-CN" sz="1200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</a:t>
                      </a:r>
                      <a:r>
                        <a:rPr lang="zh-CN" altLang="en-US" sz="1200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，长度为</a:t>
                      </a:r>
                      <a:r>
                        <a:rPr lang="en-US" altLang="zh-CN" sz="1200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  <a:endParaRPr sz="1200" b="1" dirty="0">
                        <a:solidFill>
                          <a:srgbClr val="2738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  <a:r>
                        <a:rPr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3｜编码与量化</a:t>
                      </a:r>
                      <a:endParaRPr lang="en-US" sz="1200" b="1" dirty="0">
                        <a:solidFill>
                          <a:srgbClr val="2738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endParaRPr lang="en-US" sz="1200" b="1" dirty="0">
                        <a:solidFill>
                          <a:srgbClr val="2738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lang="zh-CN" altLang="en-US"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每个数值用</a:t>
                      </a:r>
                      <a:r>
                        <a:rPr lang="en-US" altLang="zh-CN"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  <a:r>
                        <a:rPr lang="zh-CN" altLang="en-US"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个比特来描述</a:t>
                      </a:r>
                      <a:endParaRPr sz="1200" b="1" dirty="0">
                        <a:solidFill>
                          <a:srgbClr val="2738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</a:t>
                      </a:r>
                      <a:r>
                        <a:rPr lang="en-US" altLang="zh-CN"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  <a:r>
                        <a:rPr lang="zh-CN" altLang="en-US"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｜信道传输内容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  <a:r>
                        <a:rPr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  <a:r>
                        <a:rPr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–6｜</a:t>
                      </a:r>
                      <a:r>
                        <a:rPr lang="en-US" altLang="zh-CN"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server</a:t>
                      </a:r>
                      <a:r>
                        <a:rPr lang="zh-CN" altLang="en-US" sz="1200" b="1" dirty="0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解码、更新</a:t>
                      </a:r>
                      <a:endParaRPr sz="1200" b="1" dirty="0">
                        <a:solidFill>
                          <a:srgbClr val="27384D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FedAvg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未压缩参考</a:t>
                      </a:r>
                    </a:p>
                  </a:txBody>
                  <a:tcPr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原始梯度变化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不量化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FP32 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浮点数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32bit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  <a:r>
                        <a:rPr 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 32 </a:t>
                      </a:r>
                      <a:r>
                        <a:rPr 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bits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32d bit/客户端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样本量加权聚合，再更新全局模型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r>
                        <a:rPr sz="1163" b="1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63" b="1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SignSGD</a:t>
                      </a:r>
                      <a:endParaRPr sz="1163" b="1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163" b="1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  <a:r>
                        <a:rPr lang="en-US" altLang="zh-CN" sz="1163" b="1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bit</a:t>
                      </a:r>
                      <a:endParaRPr sz="1163" b="1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原始梯度变化</a:t>
                      </a:r>
                      <a:r>
                        <a:rPr lang="el-GR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1-bit：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取第一轮最值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分位数为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threshold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，正负数传符号，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server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恢复为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+-threshold</a:t>
                      </a:r>
                    </a:p>
                    <a:p>
                      <a:r>
                        <a:rPr 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2,3-bit: 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threshold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，均匀等分，随机舍入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仅第一轮传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threshold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值，每轮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 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threshold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恢复数值，更新全局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r>
                        <a:rPr sz="1163" b="1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Hadamard</a:t>
                      </a:r>
                      <a:r>
                        <a:rPr lang="zh-CN" altLang="en-US" sz="1163" b="1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lang="en-US" altLang="zh-CN" sz="1163" b="1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srk</a:t>
                      </a:r>
                      <a:r>
                        <a:rPr lang="zh-CN" altLang="en-US" sz="1163" b="1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163" b="1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163" b="1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2 / 3-bit</a:t>
                      </a:r>
                    </a:p>
                  </a:txBody>
                  <a:tcPr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</a:t>
                      </a:r>
                      <a:r>
                        <a:rPr lang="el-GR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补零至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D=2^⌈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log₂d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⌉</a:t>
                      </a:r>
                    </a:p>
                    <a:p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R=HDₛ：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随机符号掩码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+ 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FWHT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1-bit 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同上取符号和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threshold</a:t>
                      </a:r>
                    </a:p>
                    <a:p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  <a:r>
                        <a:rPr 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,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3-bit 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同上，均分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区间随机舍入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仅第一轮传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threshold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值以及生成</a:t>
                      </a:r>
                      <a:r>
                        <a:rPr lang="en-US" altLang="zh-CN"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hardmard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seed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，每轮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，（如果缩放，每轮额外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32bit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endParaRPr lang="zh-CN" altLang="en-US"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seed 逆 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FWHT、裁回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d 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维后更新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163" b="1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Kashin</a:t>
                      </a:r>
                    </a:p>
                    <a:p>
                      <a:r>
                        <a:rPr sz="1163" b="1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λ = 1.3 / 1.6 / 2.0</a:t>
                      </a:r>
                    </a:p>
                  </a:txBody>
                  <a:tcPr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FFT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框架，D≈λd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迭代求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Kashin 系数（exp1 为 25 次）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1-bit sign × 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</a:t>
                      </a:r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threshold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2/3-bit 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均分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区间随机舍入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仅第一轮传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threshold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值，每轮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，（如果缩放，每轮额外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32bit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），</a:t>
                      </a:r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Server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</a:t>
                      </a:r>
                      <a:r>
                        <a:rPr lang="en-US" altLang="zh-CN"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fft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</a:t>
                      </a:r>
                      <a:r>
                        <a:rPr lang="zh-CN" altLang="en-US" sz="1163" b="0" dirty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</a:t>
                      </a:r>
                      <a:r>
                        <a:rPr lang="en-US" altLang="zh-CN"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d,</a:t>
                      </a:r>
                      <a:r>
                        <a:rPr sz="1163" b="0" dirty="0" err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后更新</a:t>
                      </a:r>
                      <a:endParaRPr sz="1163" b="0" dirty="0">
                        <a:solidFill>
                          <a:srgbClr val="1823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9D7107C6-F1C5-2C36-9F5B-F4BFC0882E4D}"/>
              </a:ext>
            </a:extLst>
          </p:cNvPr>
          <p:cNvSpPr txBox="1"/>
          <p:nvPr/>
        </p:nvSpPr>
        <p:spPr>
          <a:xfrm>
            <a:off x="476250" y="6034562"/>
            <a:ext cx="104438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1·</a:t>
            </a:r>
            <a:r>
              <a:rPr lang="zh-CN" altLang="en-US" sz="1400" dirty="0"/>
              <a:t>缩放是指每轮训练发送取值的大小变化，让</a:t>
            </a:r>
            <a:r>
              <a:rPr lang="en-US" altLang="zh-CN" sz="1400" dirty="0"/>
              <a:t>server</a:t>
            </a:r>
            <a:r>
              <a:rPr lang="zh-CN" altLang="en-US" sz="1400" dirty="0"/>
              <a:t>根据数据更好的恢复出更新，减小误差</a:t>
            </a:r>
            <a:endParaRPr lang="en-US" altLang="zh-CN" sz="1400" dirty="0"/>
          </a:p>
          <a:p>
            <a:r>
              <a:rPr lang="en-US" altLang="zh-CN" sz="1400" dirty="0"/>
              <a:t>2·D</a:t>
            </a:r>
            <a:r>
              <a:rPr lang="zh-CN" altLang="en-US" sz="1400" dirty="0"/>
              <a:t>是</a:t>
            </a:r>
            <a:r>
              <a:rPr lang="en-US" altLang="zh-CN" sz="1400" dirty="0"/>
              <a:t>d</a:t>
            </a:r>
            <a:r>
              <a:rPr lang="zh-CN" altLang="en-US" sz="1400" dirty="0"/>
              <a:t>进行变化后得到的高维向量</a:t>
            </a:r>
            <a:endParaRPr lang="en-US" altLang="zh-CN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8345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5D137-95EC-6E83-1257-FF0BC357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B093CFD-BEB6-71F8-7779-4AEC3CBA729C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n-US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altLang="zh-CN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bit</a:t>
            </a:r>
            <a:r>
              <a:rPr lang="zh-CN" altLang="en-US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下多种方式的准确率</a:t>
            </a:r>
            <a:r>
              <a:rPr lang="en-US" altLang="zh-CN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-1</a:t>
            </a:r>
            <a:endParaRPr sz="232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2D17E2-61E4-84DB-A572-7E71F535432A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01400" cy="28575"/>
          </a:xfrm>
          <a:prstGeom prst="rect">
            <a:avLst/>
          </a:prstGeom>
          <a:solidFill>
            <a:srgbClr val="2E75B6"/>
          </a:solidFill>
          <a:ln w="0">
            <a:solidFill>
              <a:srgbClr val="2E75B6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F3A447-85D5-F772-7AB6-C0A329ADFC46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667" lnSpcReduction="20000"/>
          </a:bodyPr>
          <a:lstStyle/>
          <a:p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A1F9D0-249A-65C8-8DDD-FF43EC66FAF2}"/>
              </a:ext>
            </a:extLst>
          </p:cNvPr>
          <p:cNvSpPr>
            <a:spLocks noGrp="1"/>
          </p:cNvSpPr>
          <p:nvPr/>
        </p:nvSpPr>
        <p:spPr>
          <a:xfrm>
            <a:off x="7159999" y="1258161"/>
            <a:ext cx="4365251" cy="190023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875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如果都不进行动态缩放，也就是一直用根据第一轮梯度更新选择的</a:t>
            </a:r>
            <a:r>
              <a:rPr lang="en-US" altLang="zh-CN" sz="1875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threshold</a:t>
            </a:r>
            <a:r>
              <a:rPr lang="zh-CN" altLang="en-US" sz="1875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：</a:t>
            </a:r>
            <a:endParaRPr lang="en-US" altLang="zh-CN" sz="1875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35B89B-76F9-3AE9-7991-EA9CC51B994E}"/>
              </a:ext>
            </a:extLst>
          </p:cNvPr>
          <p:cNvSpPr>
            <a:spLocks noGrp="1"/>
          </p:cNvSpPr>
          <p:nvPr/>
        </p:nvSpPr>
        <p:spPr>
          <a:xfrm>
            <a:off x="7159999" y="5599839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7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725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后期模型梯度更新小但是由于静态</a:t>
            </a:r>
            <a:r>
              <a:rPr lang="en-US" altLang="zh-CN" sz="1725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threshold</a:t>
            </a:r>
            <a:r>
              <a:rPr lang="zh-CN" altLang="en-US" sz="1725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，量化的噪声大，持续震荡。</a:t>
            </a:r>
            <a:endParaRPr sz="1725" b="1" dirty="0">
              <a:solidFill>
                <a:srgbClr val="2E75B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A5A235B-DB51-B832-B60A-AD5447363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25" r="50225" b="-625"/>
          <a:stretch>
            <a:fillRect/>
          </a:stretch>
        </p:blipFill>
        <p:spPr>
          <a:xfrm>
            <a:off x="806825" y="1000125"/>
            <a:ext cx="5289175" cy="34387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3F12EF4-AC0F-7144-538C-0D3ACA6F6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85" t="14749"/>
          <a:stretch>
            <a:fillRect/>
          </a:stretch>
        </p:blipFill>
        <p:spPr>
          <a:xfrm>
            <a:off x="1319493" y="4438898"/>
            <a:ext cx="4263838" cy="266139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2A8BBDD-945C-5F82-AA64-9A6F5BAA8012}"/>
              </a:ext>
            </a:extLst>
          </p:cNvPr>
          <p:cNvSpPr txBox="1"/>
          <p:nvPr/>
        </p:nvSpPr>
        <p:spPr>
          <a:xfrm>
            <a:off x="7091642" y="2047875"/>
            <a:ext cx="43652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  <a:p>
            <a:r>
              <a:rPr lang="en-US" altLang="zh-CN" dirty="0"/>
              <a:t>1.</a:t>
            </a:r>
            <a:r>
              <a:rPr lang="zh-CN" altLang="en-US" dirty="0"/>
              <a:t>红线</a:t>
            </a:r>
            <a:r>
              <a:rPr lang="en-US" altLang="zh-CN" dirty="0" err="1"/>
              <a:t>Signsgd</a:t>
            </a:r>
            <a:r>
              <a:rPr lang="zh-CN" altLang="en-US" dirty="0"/>
              <a:t>和蓝线</a:t>
            </a:r>
            <a:r>
              <a:rPr lang="en-US" altLang="zh-CN" dirty="0" err="1"/>
              <a:t>hardmard</a:t>
            </a:r>
            <a:r>
              <a:rPr lang="zh-CN" altLang="en-US" dirty="0"/>
              <a:t>可以通过梯度更新的正负方向进行更新，能够为模型提供正确的梯度下降方向，因此能推动模型往前收敛。</a:t>
            </a:r>
          </a:p>
          <a:p>
            <a:r>
              <a:rPr lang="en-US" altLang="zh-CN" dirty="0"/>
              <a:t>2.Kashin</a:t>
            </a:r>
            <a:r>
              <a:rPr lang="zh-CN" altLang="en-US" dirty="0"/>
              <a:t>方法可以通过</a:t>
            </a:r>
            <a:r>
              <a:rPr lang="en-US" altLang="zh-CN" dirty="0"/>
              <a:t>threshold</a:t>
            </a:r>
            <a:r>
              <a:rPr lang="zh-CN" altLang="en-US" dirty="0"/>
              <a:t>来截断分散离群值，也可以推进模型训练。但是由于不更新，后期离群值变小，效果弱化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灰线为不更新梯度，黄线为随机更新</a:t>
            </a:r>
          </a:p>
        </p:txBody>
      </p:sp>
    </p:spTree>
    <p:extLst>
      <p:ext uri="{BB962C8B-B14F-4D97-AF65-F5344CB8AC3E}">
        <p14:creationId xmlns:p14="http://schemas.microsoft.com/office/powerpoint/2010/main" val="464273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91B84-CBFF-2483-F4E7-5DABAE56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DAFDA11-818A-69D4-403E-44C43DC37D53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n-US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altLang="zh-CN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bit</a:t>
            </a:r>
            <a:r>
              <a:rPr lang="zh-CN" altLang="en-US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下多种方式的准确率</a:t>
            </a:r>
            <a:r>
              <a:rPr lang="en-US" altLang="zh-CN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-2</a:t>
            </a:r>
            <a:endParaRPr sz="232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658CE7-89DB-502D-B358-C2E4D0E73D74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01400" cy="28575"/>
          </a:xfrm>
          <a:prstGeom prst="rect">
            <a:avLst/>
          </a:prstGeom>
          <a:solidFill>
            <a:srgbClr val="2E75B6"/>
          </a:solidFill>
          <a:ln w="0">
            <a:solidFill>
              <a:srgbClr val="2E75B6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5DACBF-3789-74DD-3202-03F922704BC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667" lnSpcReduction="20000"/>
          </a:bodyPr>
          <a:lstStyle/>
          <a:p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BD7A17-14A8-19F5-5C49-D89FB6414A94}"/>
              </a:ext>
            </a:extLst>
          </p:cNvPr>
          <p:cNvSpPr>
            <a:spLocks noGrp="1"/>
          </p:cNvSpPr>
          <p:nvPr/>
        </p:nvSpPr>
        <p:spPr>
          <a:xfrm>
            <a:off x="7477124" y="1428749"/>
            <a:ext cx="4060451" cy="1457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87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如果进行动态缩放，也就是每一轮根据之前的梯度更新值重设</a:t>
            </a:r>
            <a:r>
              <a:rPr lang="en-US" altLang="zh-CN" sz="187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threshold</a:t>
            </a:r>
            <a:r>
              <a:rPr lang="zh-CN" altLang="en-US" sz="187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：</a:t>
            </a:r>
            <a:endParaRPr lang="en-US" altLang="zh-CN" sz="187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  <a:p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endParaRPr lang="en-US" altLang="zh-CN" sz="187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  <a:p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endParaRPr sz="187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3B6D19-93F4-F14F-5CD3-245443193239}"/>
              </a:ext>
            </a:extLst>
          </p:cNvPr>
          <p:cNvSpPr>
            <a:spLocks noGrp="1"/>
          </p:cNvSpPr>
          <p:nvPr/>
        </p:nvSpPr>
        <p:spPr>
          <a:xfrm>
            <a:off x="7429500" y="2357437"/>
            <a:ext cx="39052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5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Hardmard</a:t>
            </a: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和</a:t>
            </a:r>
            <a:r>
              <a:rPr lang="en-US" altLang="zh-CN" sz="165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kashin</a:t>
            </a: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方法都可以快速爬升至</a:t>
            </a:r>
            <a:r>
              <a:rPr lang="en-US" altLang="zh-CN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80</a:t>
            </a: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以上，接近收敛。</a:t>
            </a:r>
            <a:endParaRPr lang="en-US" altLang="zh-CN" sz="165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endParaRPr lang="en-US" sz="165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使用动态缩放每轮训练额外传输一个</a:t>
            </a:r>
            <a:r>
              <a:rPr lang="en-US" altLang="zh-CN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32bit</a:t>
            </a: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的缩放因子，双方通过这个确认恢复后</a:t>
            </a:r>
            <a:r>
              <a:rPr lang="en-US" altLang="zh-CN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threshold</a:t>
            </a: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数值大小。</a:t>
            </a:r>
            <a:endParaRPr sz="165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3FD4EA-E0F0-92CD-102F-3A1E52EC3C46}"/>
              </a:ext>
            </a:extLst>
          </p:cNvPr>
          <p:cNvSpPr>
            <a:spLocks noGrp="1"/>
          </p:cNvSpPr>
          <p:nvPr/>
        </p:nvSpPr>
        <p:spPr>
          <a:xfrm>
            <a:off x="7477125" y="48101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>
              <a:defRPr sz="17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725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Nmse</a:t>
            </a:r>
            <a:r>
              <a:rPr lang="zh-CN" altLang="en-US" sz="1725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的值较不更新</a:t>
            </a:r>
            <a:r>
              <a:rPr lang="en-US" altLang="zh-CN" sz="1725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threshold</a:t>
            </a:r>
            <a:r>
              <a:rPr lang="zh-CN" altLang="en-US" sz="1725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有一定幅度的降低，</a:t>
            </a:r>
            <a:r>
              <a:rPr lang="en-US" altLang="zh-CN" sz="1725" b="1" dirty="0" err="1">
                <a:solidFill>
                  <a:srgbClr val="2E75B6"/>
                </a:solidFill>
                <a:latin typeface="Arial"/>
                <a:ea typeface="Arial"/>
                <a:cs typeface="Arial"/>
              </a:rPr>
              <a:t>kashin</a:t>
            </a:r>
            <a:r>
              <a:rPr lang="en-US" altLang="zh-CN" sz="1725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&lt;</a:t>
            </a:r>
            <a:r>
              <a:rPr lang="en-US" altLang="zh-CN" sz="1725" b="1" dirty="0" err="1">
                <a:solidFill>
                  <a:srgbClr val="2E75B6"/>
                </a:solidFill>
                <a:latin typeface="Arial"/>
                <a:ea typeface="Arial"/>
                <a:cs typeface="Arial"/>
              </a:rPr>
              <a:t>hardmard</a:t>
            </a:r>
            <a:r>
              <a:rPr lang="en-US" altLang="zh-CN" sz="1725" b="1" dirty="0">
                <a:solidFill>
                  <a:srgbClr val="2E75B6"/>
                </a:solidFill>
                <a:latin typeface="Arial"/>
                <a:ea typeface="Arial"/>
                <a:cs typeface="Arial"/>
              </a:rPr>
              <a:t>&lt;</a:t>
            </a:r>
            <a:r>
              <a:rPr lang="en-US" altLang="zh-CN" sz="1725" b="1" dirty="0" err="1">
                <a:solidFill>
                  <a:srgbClr val="2E75B6"/>
                </a:solidFill>
                <a:latin typeface="Arial"/>
                <a:ea typeface="Arial"/>
                <a:cs typeface="Arial"/>
              </a:rPr>
              <a:t>signsgd</a:t>
            </a:r>
            <a:endParaRPr sz="1725" b="1" dirty="0">
              <a:solidFill>
                <a:srgbClr val="2E75B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E8B02B3-19D0-F128-21BA-B7F928F453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23" r="50000"/>
          <a:stretch>
            <a:fillRect/>
          </a:stretch>
        </p:blipFill>
        <p:spPr>
          <a:xfrm>
            <a:off x="495300" y="1030903"/>
            <a:ext cx="5466229" cy="35289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D5C31CA-477B-8CBE-0A94-4A49F9D63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3456"/>
          <a:stretch>
            <a:fillRect/>
          </a:stretch>
        </p:blipFill>
        <p:spPr>
          <a:xfrm>
            <a:off x="1432951" y="4559817"/>
            <a:ext cx="3590925" cy="229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71C3BF8-E3FC-4C0D-B343-66B5CB90048C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准确率随每维度比特变化</a:t>
            </a:r>
            <a:r>
              <a:rPr lang="en-US" altLang="zh-CN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-1</a:t>
            </a:r>
            <a:endParaRPr sz="232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3422E8-F3DA-41BB-8E6A-4BCCBFE6E042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01400" cy="28575"/>
          </a:xfrm>
          <a:prstGeom prst="rect">
            <a:avLst/>
          </a:prstGeom>
          <a:solidFill>
            <a:srgbClr val="2E75B6"/>
          </a:solidFill>
          <a:ln w="0">
            <a:solidFill>
              <a:srgbClr val="2E75B6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F3452F-A1B9-4359-8217-2EA1BB6B1847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667" lnSpcReduction="20000"/>
          </a:bodyPr>
          <a:lstStyle/>
          <a:p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18C90F-1D74-4FCE-A83E-4404B12891A8}"/>
              </a:ext>
            </a:extLst>
          </p:cNvPr>
          <p:cNvSpPr>
            <a:spLocks noGrp="1"/>
          </p:cNvSpPr>
          <p:nvPr/>
        </p:nvSpPr>
        <p:spPr>
          <a:xfrm>
            <a:off x="8099612" y="1219200"/>
            <a:ext cx="4352364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87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采用的是固定使用第一轮的</a:t>
            </a:r>
            <a:r>
              <a:rPr lang="en-US" altLang="zh-CN" sz="187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threshold</a:t>
            </a:r>
          </a:p>
          <a:p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87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三种方法通信量越大，准确率越好</a:t>
            </a:r>
            <a:endParaRPr sz="187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B424F8-0A60-46AB-A692-4561304B591D}"/>
              </a:ext>
            </a:extLst>
          </p:cNvPr>
          <p:cNvSpPr>
            <a:spLocks noGrp="1"/>
          </p:cNvSpPr>
          <p:nvPr/>
        </p:nvSpPr>
        <p:spPr>
          <a:xfrm>
            <a:off x="8099612" y="1990725"/>
            <a:ext cx="4000500" cy="215993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20000"/>
          </a:bodyPr>
          <a:lstStyle/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</a:t>
            </a:r>
            <a:r>
              <a:rPr sz="165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165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kashin</a:t>
            </a:r>
            <a:r>
              <a:rPr lang="zh-CN" altLang="en-US" sz="165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对比</a:t>
            </a:r>
            <a:r>
              <a:rPr lang="en-US" altLang="zh-CN" sz="1650" b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hardmard</a:t>
            </a:r>
            <a:r>
              <a:rPr lang="zh-CN" altLang="en-US" sz="165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在每维度</a:t>
            </a:r>
            <a:r>
              <a:rPr lang="en-US" altLang="zh-CN" sz="165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bit</a:t>
            </a:r>
            <a:r>
              <a:rPr lang="zh-CN" altLang="en-US" sz="165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相同（绿三角对比蓝方块）有更好准确率，</a:t>
            </a:r>
            <a:r>
              <a:rPr lang="en-US" altLang="zh-CN" sz="165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1bit</a:t>
            </a:r>
            <a:r>
              <a:rPr lang="zh-CN" altLang="en-US" sz="165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时的数据可能存在误差。</a:t>
            </a:r>
            <a:endParaRPr lang="en-US" altLang="zh-CN" sz="165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endParaRPr lang="en-US" altLang="zh-CN" sz="165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altLang="zh-CN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·kashin</a:t>
            </a: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固定</a:t>
            </a:r>
            <a:r>
              <a:rPr lang="en-US" altLang="zh-CN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2bit</a:t>
            </a: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时通过增大冗余可以获得更好准确率，但不明显</a:t>
            </a:r>
            <a:endParaRPr lang="en-US" altLang="zh-CN" sz="165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endParaRPr lang="en-US" sz="165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</a:t>
            </a:r>
            <a:r>
              <a:rPr lang="en-US" altLang="zh-CN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·</a:t>
            </a: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还没有验证在</a:t>
            </a:r>
            <a:r>
              <a:rPr lang="en-US" altLang="zh-CN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1bit</a:t>
            </a: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下通过改变冗余度来获得准确率。如果在固定</a:t>
            </a:r>
            <a:r>
              <a:rPr lang="en-US" altLang="zh-CN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threshold</a:t>
            </a:r>
            <a:r>
              <a:rPr lang="zh-CN" altLang="en-US" sz="165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应该有效果；但是在动态缩放下会不会因为收敛过快无法得到结论。</a:t>
            </a:r>
            <a:endParaRPr sz="165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8348242-CA45-402C-A67A-AABBB78C2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5385"/>
            <a:ext cx="8032376" cy="472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6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5767F-D1B0-7575-B923-A51914C07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075A151-E5C9-89D6-EC18-068FC0449186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准确率随每维度比特变化</a:t>
            </a:r>
            <a:r>
              <a:rPr lang="en-US" altLang="zh-CN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-2</a:t>
            </a:r>
            <a:endParaRPr sz="232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0124EC5-F310-AA8C-0BC8-37F5CC00C802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01400" cy="28575"/>
          </a:xfrm>
          <a:prstGeom prst="rect">
            <a:avLst/>
          </a:prstGeom>
          <a:solidFill>
            <a:srgbClr val="2E75B6"/>
          </a:solidFill>
          <a:ln w="0">
            <a:solidFill>
              <a:srgbClr val="2E75B6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86F1AF-E5B0-88F2-94CD-26438B83EBFC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667" lnSpcReduction="20000"/>
          </a:bodyPr>
          <a:lstStyle/>
          <a:p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28B434-9680-C71B-1F3A-1F04CAB52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20" y="1000125"/>
            <a:ext cx="11580159" cy="446138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551B44D-52B0-66E1-A9D6-474D2148CF4F}"/>
              </a:ext>
            </a:extLst>
          </p:cNvPr>
          <p:cNvSpPr txBox="1"/>
          <p:nvPr/>
        </p:nvSpPr>
        <p:spPr>
          <a:xfrm>
            <a:off x="4303059" y="5737412"/>
            <a:ext cx="68602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1.</a:t>
            </a:r>
            <a:r>
              <a:rPr lang="zh-CN" altLang="en-US" sz="1400" dirty="0"/>
              <a:t>除</a:t>
            </a:r>
            <a:r>
              <a:rPr lang="en-US" altLang="zh-CN" sz="1400" dirty="0"/>
              <a:t>1bit</a:t>
            </a:r>
            <a:r>
              <a:rPr lang="zh-CN" altLang="en-US" sz="1400" dirty="0"/>
              <a:t>量化外其他都在前几轮快速收敛，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2.Nmse</a:t>
            </a:r>
            <a:r>
              <a:rPr lang="zh-CN" altLang="en-US" sz="1400" dirty="0"/>
              <a:t>是梯度更新误差比梯度变化，后期梯度变化小，但是因为没有动态缩放，梯度更新误差比较大而且固定，</a:t>
            </a:r>
            <a:r>
              <a:rPr lang="en-US" altLang="zh-CN" sz="1400" dirty="0" err="1"/>
              <a:t>nmse</a:t>
            </a:r>
            <a:r>
              <a:rPr lang="zh-CN" altLang="en-US" sz="1400" dirty="0"/>
              <a:t>值增长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1428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EC883634-8FE7-4619-96FF-D2EA6950AAB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3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后续</a:t>
            </a:r>
            <a:endParaRPr sz="232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DD49B9-946D-4AED-BA2C-991EECE641A0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01400" cy="28575"/>
          </a:xfrm>
          <a:prstGeom prst="rect">
            <a:avLst/>
          </a:prstGeom>
          <a:solidFill>
            <a:srgbClr val="2E75B6"/>
          </a:solidFill>
          <a:ln w="0">
            <a:solidFill>
              <a:srgbClr val="2E75B6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1C11EF-CCDB-47E6-9CF5-8545E043EDA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667" lnSpcReduction="20000"/>
          </a:bodyPr>
          <a:lstStyle/>
          <a:p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01F596-EF76-4992-B4EF-63B5DAA13179}"/>
              </a:ext>
            </a:extLst>
          </p:cNvPr>
          <p:cNvSpPr>
            <a:spLocks noGrp="1"/>
          </p:cNvSpPr>
          <p:nvPr/>
        </p:nvSpPr>
        <p:spPr>
          <a:xfrm>
            <a:off x="409575" y="1262062"/>
            <a:ext cx="3476625" cy="4333875"/>
          </a:xfrm>
          <a:prstGeom prst="rect">
            <a:avLst/>
          </a:prstGeom>
          <a:solidFill>
            <a:srgbClr val="EEF4FA"/>
          </a:solidFill>
          <a:ln w="9525">
            <a:solidFill>
              <a:srgbClr val="BCD3E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71F64C-56CC-4FCC-B72D-10AF480AEB26}"/>
              </a:ext>
            </a:extLst>
          </p:cNvPr>
          <p:cNvSpPr>
            <a:spLocks noGrp="1"/>
          </p:cNvSpPr>
          <p:nvPr/>
        </p:nvSpPr>
        <p:spPr>
          <a:xfrm>
            <a:off x="4352925" y="1276350"/>
            <a:ext cx="3476625" cy="4333875"/>
          </a:xfrm>
          <a:prstGeom prst="rect">
            <a:avLst/>
          </a:prstGeom>
          <a:solidFill>
            <a:srgbClr val="FFFFFF"/>
          </a:solidFill>
          <a:ln w="9525">
            <a:solidFill>
              <a:srgbClr val="BCD3E6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56E750-81CB-41C5-B957-F77DB9CB3C5B}"/>
              </a:ext>
            </a:extLst>
          </p:cNvPr>
          <p:cNvSpPr>
            <a:spLocks noGrp="1"/>
          </p:cNvSpPr>
          <p:nvPr/>
        </p:nvSpPr>
        <p:spPr>
          <a:xfrm>
            <a:off x="8305800" y="1276350"/>
            <a:ext cx="3476625" cy="4333875"/>
          </a:xfrm>
          <a:prstGeom prst="rect">
            <a:avLst/>
          </a:prstGeom>
          <a:solidFill>
            <a:srgbClr val="EEF4FA"/>
          </a:solidFill>
          <a:ln w="9525">
            <a:solidFill>
              <a:srgbClr val="BCD3E6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829076-3164-443E-9683-0B948BE63F04}"/>
              </a:ext>
            </a:extLst>
          </p:cNvPr>
          <p:cNvSpPr>
            <a:spLocks noGrp="1"/>
          </p:cNvSpPr>
          <p:nvPr/>
        </p:nvSpPr>
        <p:spPr>
          <a:xfrm>
            <a:off x="638175" y="1514475"/>
            <a:ext cx="30003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36" lnSpcReduction="20000"/>
          </a:bodyPr>
          <a:lstStyle/>
          <a:p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选择动态缩放与否 </a:t>
            </a:r>
            <a:endParaRPr sz="202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E62343-448C-4E0B-8AC8-344B137BEDB1}"/>
              </a:ext>
            </a:extLst>
          </p:cNvPr>
          <p:cNvSpPr>
            <a:spLocks noGrp="1"/>
          </p:cNvSpPr>
          <p:nvPr/>
        </p:nvSpPr>
        <p:spPr>
          <a:xfrm>
            <a:off x="638175" y="2457450"/>
            <a:ext cx="3000375" cy="2047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937"/>
          </a:bodyPr>
          <a:lstStyle/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 </a:t>
            </a:r>
            <a:r>
              <a:rPr lang="zh-CN" altLang="en-US"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动态缩放结合</a:t>
            </a:r>
            <a:r>
              <a:rPr lang="en-US" altLang="zh-CN" sz="1500" b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lloydmax</a:t>
            </a:r>
            <a:r>
              <a:rPr lang="zh-CN" altLang="en-US"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等量化方法有更好的效果，但是目前易达到准确率瓶颈，不好显示不同方法之间区别</a:t>
            </a:r>
            <a:endParaRPr lang="en-US" altLang="zh-CN" sz="150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endParaRPr lang="en-US" sz="150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2.</a:t>
            </a:r>
            <a:r>
              <a:rPr lang="en-US" altLang="zh-CN" sz="15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drive</a:t>
            </a:r>
            <a:r>
              <a:rPr lang="zh-CN" altLang="en-US" sz="15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文献使用动态</a:t>
            </a:r>
            <a:r>
              <a:rPr lang="en-US" altLang="zh-CN" sz="15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minmax</a:t>
            </a:r>
            <a:r>
              <a:rPr lang="zh-CN" altLang="en-US" sz="15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，通信量带有附加信息</a:t>
            </a:r>
            <a:r>
              <a:rPr lang="en-US" altLang="zh-CN" sz="15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32bit</a:t>
            </a:r>
            <a:endParaRPr sz="150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0D4F30-102F-418A-8CF3-E9BB6259DF52}"/>
              </a:ext>
            </a:extLst>
          </p:cNvPr>
          <p:cNvSpPr>
            <a:spLocks noGrp="1"/>
          </p:cNvSpPr>
          <p:nvPr/>
        </p:nvSpPr>
        <p:spPr>
          <a:xfrm>
            <a:off x="4591050" y="1514474"/>
            <a:ext cx="3000375" cy="47569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136" lnSpcReduction="20000"/>
          </a:bodyPr>
          <a:lstStyle/>
          <a:p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加入</a:t>
            </a:r>
            <a:r>
              <a:rPr lang="en-US" altLang="zh-CN" sz="20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1bit</a:t>
            </a:r>
            <a:r>
              <a:rPr lang="zh-CN" altLang="en-US" sz="20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时</a:t>
            </a:r>
            <a:r>
              <a:rPr lang="en-US" altLang="zh-CN" sz="2025" b="1" dirty="0" err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kashin</a:t>
            </a:r>
            <a:r>
              <a:rPr lang="zh-CN" altLang="en-US" sz="20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方法里准确率随每维度比特数增长变化</a:t>
            </a:r>
            <a:endParaRPr sz="202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6656E7-E612-4411-B999-57FB4DAA2127}"/>
              </a:ext>
            </a:extLst>
          </p:cNvPr>
          <p:cNvSpPr>
            <a:spLocks noGrp="1"/>
          </p:cNvSpPr>
          <p:nvPr/>
        </p:nvSpPr>
        <p:spPr>
          <a:xfrm>
            <a:off x="4591050" y="2457450"/>
            <a:ext cx="3000375" cy="2047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 </a:t>
            </a:r>
            <a:r>
              <a:rPr lang="zh-CN" altLang="en-US"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同样是变化冗余度，在每维度比特相同的情况下对比</a:t>
            </a:r>
            <a:r>
              <a:rPr lang="en-US" altLang="zh-CN" sz="1500" b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hardmard</a:t>
            </a:r>
            <a:r>
              <a:rPr lang="zh-CN" altLang="en-US"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等旧方法</a:t>
            </a:r>
            <a:endParaRPr sz="150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04CFA0-8E7B-4592-9208-5B85B7FB3321}"/>
              </a:ext>
            </a:extLst>
          </p:cNvPr>
          <p:cNvSpPr>
            <a:spLocks noGrp="1"/>
          </p:cNvSpPr>
          <p:nvPr/>
        </p:nvSpPr>
        <p:spPr>
          <a:xfrm>
            <a:off x="8543925" y="1514475"/>
            <a:ext cx="30003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136" lnSpcReduction="20000"/>
          </a:bodyPr>
          <a:lstStyle/>
          <a:p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0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Kashin</a:t>
            </a:r>
            <a:r>
              <a:rPr lang="zh-CN" altLang="en-US" sz="2025" b="1" dirty="0">
                <a:solidFill>
                  <a:srgbClr val="17365D"/>
                </a:solidFill>
                <a:latin typeface="Arial"/>
                <a:ea typeface="Arial"/>
                <a:cs typeface="Arial"/>
              </a:rPr>
              <a:t>的实现</a:t>
            </a:r>
            <a:endParaRPr sz="2025" b="1" dirty="0">
              <a:solidFill>
                <a:srgbClr val="17365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5252D7-120C-4E68-849D-0454A23531D9}"/>
              </a:ext>
            </a:extLst>
          </p:cNvPr>
          <p:cNvSpPr>
            <a:spLocks noGrp="1"/>
          </p:cNvSpPr>
          <p:nvPr/>
        </p:nvSpPr>
        <p:spPr>
          <a:xfrm>
            <a:off x="8543925" y="2457450"/>
            <a:ext cx="3000375" cy="2047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 </a:t>
            </a:r>
            <a:r>
              <a:rPr lang="en-US" altLang="zh-CN"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Drive</a:t>
            </a:r>
            <a:r>
              <a:rPr lang="zh-CN" altLang="en-US"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中</a:t>
            </a:r>
            <a:r>
              <a:rPr lang="en-US" altLang="zh-CN" sz="1500" b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kashin</a:t>
            </a:r>
            <a:r>
              <a:rPr lang="zh-CN" altLang="en-US"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变换的框架采用了正交变化，我现在采用的是</a:t>
            </a:r>
            <a:r>
              <a:rPr lang="en-US" altLang="zh-CN" sz="1500" b="0" dirty="0" err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fft</a:t>
            </a:r>
            <a:r>
              <a:rPr lang="zh-CN" altLang="en-US" sz="150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。</a:t>
            </a:r>
            <a:endParaRPr lang="en-US" altLang="zh-CN" sz="150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endParaRPr lang="en-US" altLang="zh-CN" sz="150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5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尝试对比他们开源代码来规范现在的对比过程，我自己的流程比较混乱</a:t>
            </a:r>
            <a:endParaRPr sz="1500" b="0" dirty="0">
              <a:solidFill>
                <a:srgbClr val="22222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34362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883</Words>
  <Application>Microsoft Office PowerPoint</Application>
  <DocSecurity>0</DocSecurity>
  <PresentationFormat>宽屏</PresentationFormat>
  <Paragraphs>94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Haocheng Zhang</cp:lastModifiedBy>
  <cp:revision>6</cp:revision>
  <dcterms:created xsi:type="dcterms:W3CDTF">2026-09-20T07:34:48Z</dcterms:created>
  <dcterms:modified xsi:type="dcterms:W3CDTF">2026-10-20T07:54:32Z</dcterms:modified>
</cp:coreProperties>
</file>