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90"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F23DEA-AE7B-1E60-AADE-9F793B6ADA2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5FE1EF7-5574-C5A6-2695-1D53DE4938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35E5AE4-C474-91EF-4FF4-1982764E88C7}"/>
              </a:ext>
            </a:extLst>
          </p:cNvPr>
          <p:cNvSpPr>
            <a:spLocks noGrp="1"/>
          </p:cNvSpPr>
          <p:nvPr>
            <p:ph type="dt" sz="half" idx="10"/>
          </p:nvPr>
        </p:nvSpPr>
        <p:spPr/>
        <p:txBody>
          <a:bodyPr/>
          <a:lstStyle/>
          <a:p>
            <a:fld id="{EA21F995-6CCA-4258-8FD3-AC4236E3A579}" type="datetimeFigureOut">
              <a:rPr lang="zh-CN" altLang="en-US" smtClean="0"/>
              <a:t>2026/9/20</a:t>
            </a:fld>
            <a:endParaRPr lang="zh-CN" altLang="en-US"/>
          </a:p>
        </p:txBody>
      </p:sp>
      <p:sp>
        <p:nvSpPr>
          <p:cNvPr id="5" name="页脚占位符 4">
            <a:extLst>
              <a:ext uri="{FF2B5EF4-FFF2-40B4-BE49-F238E27FC236}">
                <a16:creationId xmlns:a16="http://schemas.microsoft.com/office/drawing/2014/main" id="{B23C8149-65F8-E15B-EC31-E679B5AD35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108EA46-EBB4-7900-E444-E3ECDFCAFC84}"/>
              </a:ext>
            </a:extLst>
          </p:cNvPr>
          <p:cNvSpPr>
            <a:spLocks noGrp="1"/>
          </p:cNvSpPr>
          <p:nvPr>
            <p:ph type="sldNum" sz="quarter" idx="12"/>
          </p:nvPr>
        </p:nvSpPr>
        <p:spPr/>
        <p:txBody>
          <a:bodyPr/>
          <a:lstStyle/>
          <a:p>
            <a:fld id="{6A465370-A6D9-48AB-8812-D71A02481C88}" type="slidenum">
              <a:rPr lang="zh-CN" altLang="en-US" smtClean="0"/>
              <a:t>‹#›</a:t>
            </a:fld>
            <a:endParaRPr lang="zh-CN" altLang="en-US"/>
          </a:p>
        </p:txBody>
      </p:sp>
    </p:spTree>
    <p:extLst>
      <p:ext uri="{BB962C8B-B14F-4D97-AF65-F5344CB8AC3E}">
        <p14:creationId xmlns:p14="http://schemas.microsoft.com/office/powerpoint/2010/main" val="1106391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86CC0F-E621-24F2-6F16-6E36E5A831C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522009B-A054-6F75-76C0-CC57994C143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89DEC54-00A5-907C-B248-9605F4B9E9F2}"/>
              </a:ext>
            </a:extLst>
          </p:cNvPr>
          <p:cNvSpPr>
            <a:spLocks noGrp="1"/>
          </p:cNvSpPr>
          <p:nvPr>
            <p:ph type="dt" sz="half" idx="10"/>
          </p:nvPr>
        </p:nvSpPr>
        <p:spPr/>
        <p:txBody>
          <a:bodyPr/>
          <a:lstStyle/>
          <a:p>
            <a:fld id="{EA21F995-6CCA-4258-8FD3-AC4236E3A579}" type="datetimeFigureOut">
              <a:rPr lang="zh-CN" altLang="en-US" smtClean="0"/>
              <a:t>2026/9/20</a:t>
            </a:fld>
            <a:endParaRPr lang="zh-CN" altLang="en-US"/>
          </a:p>
        </p:txBody>
      </p:sp>
      <p:sp>
        <p:nvSpPr>
          <p:cNvPr id="5" name="页脚占位符 4">
            <a:extLst>
              <a:ext uri="{FF2B5EF4-FFF2-40B4-BE49-F238E27FC236}">
                <a16:creationId xmlns:a16="http://schemas.microsoft.com/office/drawing/2014/main" id="{26BB0921-3678-0120-20FF-38154FEBC9F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6577A5-576A-F656-16E8-B937A26162FF}"/>
              </a:ext>
            </a:extLst>
          </p:cNvPr>
          <p:cNvSpPr>
            <a:spLocks noGrp="1"/>
          </p:cNvSpPr>
          <p:nvPr>
            <p:ph type="sldNum" sz="quarter" idx="12"/>
          </p:nvPr>
        </p:nvSpPr>
        <p:spPr/>
        <p:txBody>
          <a:bodyPr/>
          <a:lstStyle/>
          <a:p>
            <a:fld id="{6A465370-A6D9-48AB-8812-D71A02481C88}" type="slidenum">
              <a:rPr lang="zh-CN" altLang="en-US" smtClean="0"/>
              <a:t>‹#›</a:t>
            </a:fld>
            <a:endParaRPr lang="zh-CN" altLang="en-US"/>
          </a:p>
        </p:txBody>
      </p:sp>
    </p:spTree>
    <p:extLst>
      <p:ext uri="{BB962C8B-B14F-4D97-AF65-F5344CB8AC3E}">
        <p14:creationId xmlns:p14="http://schemas.microsoft.com/office/powerpoint/2010/main" val="2351741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E6B46B-9FC2-ECD8-DF3E-94E8C5BAA6D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C1525FA-0B23-E707-8F37-3522946E6B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2B04739-132A-F786-3A10-50F23499864B}"/>
              </a:ext>
            </a:extLst>
          </p:cNvPr>
          <p:cNvSpPr>
            <a:spLocks noGrp="1"/>
          </p:cNvSpPr>
          <p:nvPr>
            <p:ph type="dt" sz="half" idx="10"/>
          </p:nvPr>
        </p:nvSpPr>
        <p:spPr/>
        <p:txBody>
          <a:bodyPr/>
          <a:lstStyle/>
          <a:p>
            <a:fld id="{EA21F995-6CCA-4258-8FD3-AC4236E3A579}" type="datetimeFigureOut">
              <a:rPr lang="zh-CN" altLang="en-US" smtClean="0"/>
              <a:t>2026/9/20</a:t>
            </a:fld>
            <a:endParaRPr lang="zh-CN" altLang="en-US"/>
          </a:p>
        </p:txBody>
      </p:sp>
      <p:sp>
        <p:nvSpPr>
          <p:cNvPr id="5" name="页脚占位符 4">
            <a:extLst>
              <a:ext uri="{FF2B5EF4-FFF2-40B4-BE49-F238E27FC236}">
                <a16:creationId xmlns:a16="http://schemas.microsoft.com/office/drawing/2014/main" id="{674E4BFE-7A2E-D043-AD2F-16624960E3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BCE81E0-D160-2887-EDC4-5E12FA8E470C}"/>
              </a:ext>
            </a:extLst>
          </p:cNvPr>
          <p:cNvSpPr>
            <a:spLocks noGrp="1"/>
          </p:cNvSpPr>
          <p:nvPr>
            <p:ph type="sldNum" sz="quarter" idx="12"/>
          </p:nvPr>
        </p:nvSpPr>
        <p:spPr/>
        <p:txBody>
          <a:bodyPr/>
          <a:lstStyle/>
          <a:p>
            <a:fld id="{6A465370-A6D9-48AB-8812-D71A02481C88}" type="slidenum">
              <a:rPr lang="zh-CN" altLang="en-US" smtClean="0"/>
              <a:t>‹#›</a:t>
            </a:fld>
            <a:endParaRPr lang="zh-CN" altLang="en-US"/>
          </a:p>
        </p:txBody>
      </p:sp>
    </p:spTree>
    <p:extLst>
      <p:ext uri="{BB962C8B-B14F-4D97-AF65-F5344CB8AC3E}">
        <p14:creationId xmlns:p14="http://schemas.microsoft.com/office/powerpoint/2010/main" val="4128774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FDEC83-1A3E-45A7-56C2-CD8DEF7DC4E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5300EB8-0FD9-C9D3-F206-88A10054C08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1D6F37A-D8C3-6FE4-D3C2-E18149DB294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0635F59-5E45-391F-D528-8B593BD5BE4E}"/>
              </a:ext>
            </a:extLst>
          </p:cNvPr>
          <p:cNvSpPr>
            <a:spLocks noGrp="1"/>
          </p:cNvSpPr>
          <p:nvPr>
            <p:ph type="dt" sz="half" idx="10"/>
          </p:nvPr>
        </p:nvSpPr>
        <p:spPr/>
        <p:txBody>
          <a:bodyPr/>
          <a:lstStyle/>
          <a:p>
            <a:fld id="{EA21F995-6CCA-4258-8FD3-AC4236E3A579}" type="datetimeFigureOut">
              <a:rPr lang="zh-CN" altLang="en-US" smtClean="0"/>
              <a:t>2026/9/20</a:t>
            </a:fld>
            <a:endParaRPr lang="zh-CN" altLang="en-US"/>
          </a:p>
        </p:txBody>
      </p:sp>
      <p:sp>
        <p:nvSpPr>
          <p:cNvPr id="6" name="页脚占位符 5">
            <a:extLst>
              <a:ext uri="{FF2B5EF4-FFF2-40B4-BE49-F238E27FC236}">
                <a16:creationId xmlns:a16="http://schemas.microsoft.com/office/drawing/2014/main" id="{4785CCFE-7F97-B8BF-75F3-A1FF5B5B513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12F344D-FD83-2146-3BF7-34517C21A508}"/>
              </a:ext>
            </a:extLst>
          </p:cNvPr>
          <p:cNvSpPr>
            <a:spLocks noGrp="1"/>
          </p:cNvSpPr>
          <p:nvPr>
            <p:ph type="sldNum" sz="quarter" idx="12"/>
          </p:nvPr>
        </p:nvSpPr>
        <p:spPr/>
        <p:txBody>
          <a:bodyPr/>
          <a:lstStyle/>
          <a:p>
            <a:fld id="{6A465370-A6D9-48AB-8812-D71A02481C88}" type="slidenum">
              <a:rPr lang="zh-CN" altLang="en-US" smtClean="0"/>
              <a:t>‹#›</a:t>
            </a:fld>
            <a:endParaRPr lang="zh-CN" altLang="en-US"/>
          </a:p>
        </p:txBody>
      </p:sp>
    </p:spTree>
    <p:extLst>
      <p:ext uri="{BB962C8B-B14F-4D97-AF65-F5344CB8AC3E}">
        <p14:creationId xmlns:p14="http://schemas.microsoft.com/office/powerpoint/2010/main" val="896066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815D10-C980-1119-8B0A-A95F526AC06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7CDFE9A-B12E-D77D-6D86-FBFEFB3691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68DBE84-5EA5-B1AE-C5A3-E13C8AE5EFC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1B36190-B2CE-4F0C-6D4C-C62EFFE033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52DF451-5A57-21CE-AAC1-97040ED4DE5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D3B7086-F4C8-66E6-D4DD-22DD226563E2}"/>
              </a:ext>
            </a:extLst>
          </p:cNvPr>
          <p:cNvSpPr>
            <a:spLocks noGrp="1"/>
          </p:cNvSpPr>
          <p:nvPr>
            <p:ph type="dt" sz="half" idx="10"/>
          </p:nvPr>
        </p:nvSpPr>
        <p:spPr/>
        <p:txBody>
          <a:bodyPr/>
          <a:lstStyle/>
          <a:p>
            <a:fld id="{EA21F995-6CCA-4258-8FD3-AC4236E3A579}" type="datetimeFigureOut">
              <a:rPr lang="zh-CN" altLang="en-US" smtClean="0"/>
              <a:t>2026/9/20</a:t>
            </a:fld>
            <a:endParaRPr lang="zh-CN" altLang="en-US"/>
          </a:p>
        </p:txBody>
      </p:sp>
      <p:sp>
        <p:nvSpPr>
          <p:cNvPr id="8" name="页脚占位符 7">
            <a:extLst>
              <a:ext uri="{FF2B5EF4-FFF2-40B4-BE49-F238E27FC236}">
                <a16:creationId xmlns:a16="http://schemas.microsoft.com/office/drawing/2014/main" id="{521F4E3E-7E67-CD63-1737-82EE4528FB6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DCCADC6-ADE2-EEF6-5FD7-41CE7CC8337A}"/>
              </a:ext>
            </a:extLst>
          </p:cNvPr>
          <p:cNvSpPr>
            <a:spLocks noGrp="1"/>
          </p:cNvSpPr>
          <p:nvPr>
            <p:ph type="sldNum" sz="quarter" idx="12"/>
          </p:nvPr>
        </p:nvSpPr>
        <p:spPr/>
        <p:txBody>
          <a:bodyPr/>
          <a:lstStyle/>
          <a:p>
            <a:fld id="{6A465370-A6D9-48AB-8812-D71A02481C88}" type="slidenum">
              <a:rPr lang="zh-CN" altLang="en-US" smtClean="0"/>
              <a:t>‹#›</a:t>
            </a:fld>
            <a:endParaRPr lang="zh-CN" altLang="en-US"/>
          </a:p>
        </p:txBody>
      </p:sp>
    </p:spTree>
    <p:extLst>
      <p:ext uri="{BB962C8B-B14F-4D97-AF65-F5344CB8AC3E}">
        <p14:creationId xmlns:p14="http://schemas.microsoft.com/office/powerpoint/2010/main" val="117055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615733-C883-87D4-5DE0-312831180AF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4FAB19-D0AB-316C-B12C-4C1B1B616B15}"/>
              </a:ext>
            </a:extLst>
          </p:cNvPr>
          <p:cNvSpPr>
            <a:spLocks noGrp="1"/>
          </p:cNvSpPr>
          <p:nvPr>
            <p:ph type="dt" sz="half" idx="10"/>
          </p:nvPr>
        </p:nvSpPr>
        <p:spPr/>
        <p:txBody>
          <a:bodyPr/>
          <a:lstStyle/>
          <a:p>
            <a:fld id="{EA21F995-6CCA-4258-8FD3-AC4236E3A579}" type="datetimeFigureOut">
              <a:rPr lang="zh-CN" altLang="en-US" smtClean="0"/>
              <a:t>2026/9/20</a:t>
            </a:fld>
            <a:endParaRPr lang="zh-CN" altLang="en-US"/>
          </a:p>
        </p:txBody>
      </p:sp>
      <p:sp>
        <p:nvSpPr>
          <p:cNvPr id="4" name="页脚占位符 3">
            <a:extLst>
              <a:ext uri="{FF2B5EF4-FFF2-40B4-BE49-F238E27FC236}">
                <a16:creationId xmlns:a16="http://schemas.microsoft.com/office/drawing/2014/main" id="{30BCE98F-4405-1556-35D3-D8B76491EC5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CB0F0C9-59F5-79B0-7235-422CA1017043}"/>
              </a:ext>
            </a:extLst>
          </p:cNvPr>
          <p:cNvSpPr>
            <a:spLocks noGrp="1"/>
          </p:cNvSpPr>
          <p:nvPr>
            <p:ph type="sldNum" sz="quarter" idx="12"/>
          </p:nvPr>
        </p:nvSpPr>
        <p:spPr/>
        <p:txBody>
          <a:bodyPr/>
          <a:lstStyle/>
          <a:p>
            <a:fld id="{6A465370-A6D9-48AB-8812-D71A02481C88}" type="slidenum">
              <a:rPr lang="zh-CN" altLang="en-US" smtClean="0"/>
              <a:t>‹#›</a:t>
            </a:fld>
            <a:endParaRPr lang="zh-CN" altLang="en-US"/>
          </a:p>
        </p:txBody>
      </p:sp>
    </p:spTree>
    <p:extLst>
      <p:ext uri="{BB962C8B-B14F-4D97-AF65-F5344CB8AC3E}">
        <p14:creationId xmlns:p14="http://schemas.microsoft.com/office/powerpoint/2010/main" val="2871673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488CBBB-FDE6-8610-61F4-F9D561FD6CA0}"/>
              </a:ext>
            </a:extLst>
          </p:cNvPr>
          <p:cNvSpPr>
            <a:spLocks noGrp="1"/>
          </p:cNvSpPr>
          <p:nvPr>
            <p:ph type="dt" sz="half" idx="10"/>
          </p:nvPr>
        </p:nvSpPr>
        <p:spPr/>
        <p:txBody>
          <a:bodyPr/>
          <a:lstStyle/>
          <a:p>
            <a:fld id="{EA21F995-6CCA-4258-8FD3-AC4236E3A579}" type="datetimeFigureOut">
              <a:rPr lang="zh-CN" altLang="en-US" smtClean="0"/>
              <a:t>2026/9/20</a:t>
            </a:fld>
            <a:endParaRPr lang="zh-CN" altLang="en-US"/>
          </a:p>
        </p:txBody>
      </p:sp>
      <p:sp>
        <p:nvSpPr>
          <p:cNvPr id="3" name="页脚占位符 2">
            <a:extLst>
              <a:ext uri="{FF2B5EF4-FFF2-40B4-BE49-F238E27FC236}">
                <a16:creationId xmlns:a16="http://schemas.microsoft.com/office/drawing/2014/main" id="{F3CEA9E2-16C2-B187-E2D8-6B39513770E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86FD6BD-98D9-8E5B-1045-8CB529B6258A}"/>
              </a:ext>
            </a:extLst>
          </p:cNvPr>
          <p:cNvSpPr>
            <a:spLocks noGrp="1"/>
          </p:cNvSpPr>
          <p:nvPr>
            <p:ph type="sldNum" sz="quarter" idx="12"/>
          </p:nvPr>
        </p:nvSpPr>
        <p:spPr/>
        <p:txBody>
          <a:bodyPr/>
          <a:lstStyle/>
          <a:p>
            <a:fld id="{6A465370-A6D9-48AB-8812-D71A02481C88}" type="slidenum">
              <a:rPr lang="zh-CN" altLang="en-US" smtClean="0"/>
              <a:t>‹#›</a:t>
            </a:fld>
            <a:endParaRPr lang="zh-CN" altLang="en-US"/>
          </a:p>
        </p:txBody>
      </p:sp>
    </p:spTree>
    <p:extLst>
      <p:ext uri="{BB962C8B-B14F-4D97-AF65-F5344CB8AC3E}">
        <p14:creationId xmlns:p14="http://schemas.microsoft.com/office/powerpoint/2010/main" val="2804726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E8F22F-132E-5EDF-A055-AEE2856B6C5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9F1F721-5156-6D30-714A-C35F4563BE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2A12A84-D348-D5CD-77D6-C8A6B2605D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068EE41-2C10-FE69-8267-753EAB2857DF}"/>
              </a:ext>
            </a:extLst>
          </p:cNvPr>
          <p:cNvSpPr>
            <a:spLocks noGrp="1"/>
          </p:cNvSpPr>
          <p:nvPr>
            <p:ph type="dt" sz="half" idx="10"/>
          </p:nvPr>
        </p:nvSpPr>
        <p:spPr/>
        <p:txBody>
          <a:bodyPr/>
          <a:lstStyle/>
          <a:p>
            <a:fld id="{EA21F995-6CCA-4258-8FD3-AC4236E3A579}" type="datetimeFigureOut">
              <a:rPr lang="zh-CN" altLang="en-US" smtClean="0"/>
              <a:t>2026/9/20</a:t>
            </a:fld>
            <a:endParaRPr lang="zh-CN" altLang="en-US"/>
          </a:p>
        </p:txBody>
      </p:sp>
      <p:sp>
        <p:nvSpPr>
          <p:cNvPr id="6" name="页脚占位符 5">
            <a:extLst>
              <a:ext uri="{FF2B5EF4-FFF2-40B4-BE49-F238E27FC236}">
                <a16:creationId xmlns:a16="http://schemas.microsoft.com/office/drawing/2014/main" id="{BE0E9080-3D10-80AE-BE48-FD8E47B3D99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BB45F9-8219-5481-8C7C-BC8F506A4759}"/>
              </a:ext>
            </a:extLst>
          </p:cNvPr>
          <p:cNvSpPr>
            <a:spLocks noGrp="1"/>
          </p:cNvSpPr>
          <p:nvPr>
            <p:ph type="sldNum" sz="quarter" idx="12"/>
          </p:nvPr>
        </p:nvSpPr>
        <p:spPr/>
        <p:txBody>
          <a:bodyPr/>
          <a:lstStyle/>
          <a:p>
            <a:fld id="{6A465370-A6D9-48AB-8812-D71A02481C88}" type="slidenum">
              <a:rPr lang="zh-CN" altLang="en-US" smtClean="0"/>
              <a:t>‹#›</a:t>
            </a:fld>
            <a:endParaRPr lang="zh-CN" altLang="en-US"/>
          </a:p>
        </p:txBody>
      </p:sp>
    </p:spTree>
    <p:extLst>
      <p:ext uri="{BB962C8B-B14F-4D97-AF65-F5344CB8AC3E}">
        <p14:creationId xmlns:p14="http://schemas.microsoft.com/office/powerpoint/2010/main" val="1500837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C6C5DB-DB8E-F7D1-993A-F62A71A135F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853C527-0BFD-6336-AB4F-791E299DC8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4B3B873-DEBE-CC58-B883-113E8B019A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C267E55-967F-5BBB-34DD-147E5FE22089}"/>
              </a:ext>
            </a:extLst>
          </p:cNvPr>
          <p:cNvSpPr>
            <a:spLocks noGrp="1"/>
          </p:cNvSpPr>
          <p:nvPr>
            <p:ph type="dt" sz="half" idx="10"/>
          </p:nvPr>
        </p:nvSpPr>
        <p:spPr/>
        <p:txBody>
          <a:bodyPr/>
          <a:lstStyle/>
          <a:p>
            <a:fld id="{EA21F995-6CCA-4258-8FD3-AC4236E3A579}" type="datetimeFigureOut">
              <a:rPr lang="zh-CN" altLang="en-US" smtClean="0"/>
              <a:t>2026/9/20</a:t>
            </a:fld>
            <a:endParaRPr lang="zh-CN" altLang="en-US"/>
          </a:p>
        </p:txBody>
      </p:sp>
      <p:sp>
        <p:nvSpPr>
          <p:cNvPr id="6" name="页脚占位符 5">
            <a:extLst>
              <a:ext uri="{FF2B5EF4-FFF2-40B4-BE49-F238E27FC236}">
                <a16:creationId xmlns:a16="http://schemas.microsoft.com/office/drawing/2014/main" id="{52EAFE0C-3755-67D8-CFCA-C2C69F42DC8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1B7309-8823-5567-D1AC-914F4B7AB2BF}"/>
              </a:ext>
            </a:extLst>
          </p:cNvPr>
          <p:cNvSpPr>
            <a:spLocks noGrp="1"/>
          </p:cNvSpPr>
          <p:nvPr>
            <p:ph type="sldNum" sz="quarter" idx="12"/>
          </p:nvPr>
        </p:nvSpPr>
        <p:spPr/>
        <p:txBody>
          <a:bodyPr/>
          <a:lstStyle/>
          <a:p>
            <a:fld id="{6A465370-A6D9-48AB-8812-D71A02481C88}" type="slidenum">
              <a:rPr lang="zh-CN" altLang="en-US" smtClean="0"/>
              <a:t>‹#›</a:t>
            </a:fld>
            <a:endParaRPr lang="zh-CN" altLang="en-US"/>
          </a:p>
        </p:txBody>
      </p:sp>
    </p:spTree>
    <p:extLst>
      <p:ext uri="{BB962C8B-B14F-4D97-AF65-F5344CB8AC3E}">
        <p14:creationId xmlns:p14="http://schemas.microsoft.com/office/powerpoint/2010/main" val="3000501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8398C-C8E6-12F3-2D07-7A22CDE4F5D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CD1EE79-7C6C-C372-E58B-5760BB2726B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794A855-769D-BCAE-3D34-B4068AABBAB3}"/>
              </a:ext>
            </a:extLst>
          </p:cNvPr>
          <p:cNvSpPr>
            <a:spLocks noGrp="1"/>
          </p:cNvSpPr>
          <p:nvPr>
            <p:ph type="dt" sz="half" idx="10"/>
          </p:nvPr>
        </p:nvSpPr>
        <p:spPr/>
        <p:txBody>
          <a:bodyPr/>
          <a:lstStyle/>
          <a:p>
            <a:fld id="{EA21F995-6CCA-4258-8FD3-AC4236E3A579}" type="datetimeFigureOut">
              <a:rPr lang="zh-CN" altLang="en-US" smtClean="0"/>
              <a:t>2026/9/20</a:t>
            </a:fld>
            <a:endParaRPr lang="zh-CN" altLang="en-US"/>
          </a:p>
        </p:txBody>
      </p:sp>
      <p:sp>
        <p:nvSpPr>
          <p:cNvPr id="5" name="页脚占位符 4">
            <a:extLst>
              <a:ext uri="{FF2B5EF4-FFF2-40B4-BE49-F238E27FC236}">
                <a16:creationId xmlns:a16="http://schemas.microsoft.com/office/drawing/2014/main" id="{CC1FD52E-5778-8452-D50B-303FBA03C31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66B239-07F2-94BF-0FA2-5F7D2725755C}"/>
              </a:ext>
            </a:extLst>
          </p:cNvPr>
          <p:cNvSpPr>
            <a:spLocks noGrp="1"/>
          </p:cNvSpPr>
          <p:nvPr>
            <p:ph type="sldNum" sz="quarter" idx="12"/>
          </p:nvPr>
        </p:nvSpPr>
        <p:spPr/>
        <p:txBody>
          <a:bodyPr/>
          <a:lstStyle/>
          <a:p>
            <a:fld id="{6A465370-A6D9-48AB-8812-D71A02481C88}" type="slidenum">
              <a:rPr lang="zh-CN" altLang="en-US" smtClean="0"/>
              <a:t>‹#›</a:t>
            </a:fld>
            <a:endParaRPr lang="zh-CN" altLang="en-US"/>
          </a:p>
        </p:txBody>
      </p:sp>
    </p:spTree>
    <p:extLst>
      <p:ext uri="{BB962C8B-B14F-4D97-AF65-F5344CB8AC3E}">
        <p14:creationId xmlns:p14="http://schemas.microsoft.com/office/powerpoint/2010/main" val="3359670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DEB44E4-8FAF-DFDB-9A13-4F7B1A7C99A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0E99297-E53B-9EB8-EB93-4AB7C1020D1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BA3D9CD-4482-3A8E-A697-1F8C5A92D8AD}"/>
              </a:ext>
            </a:extLst>
          </p:cNvPr>
          <p:cNvSpPr>
            <a:spLocks noGrp="1"/>
          </p:cNvSpPr>
          <p:nvPr>
            <p:ph type="dt" sz="half" idx="10"/>
          </p:nvPr>
        </p:nvSpPr>
        <p:spPr/>
        <p:txBody>
          <a:bodyPr/>
          <a:lstStyle/>
          <a:p>
            <a:fld id="{EA21F995-6CCA-4258-8FD3-AC4236E3A579}" type="datetimeFigureOut">
              <a:rPr lang="zh-CN" altLang="en-US" smtClean="0"/>
              <a:t>2026/9/20</a:t>
            </a:fld>
            <a:endParaRPr lang="zh-CN" altLang="en-US"/>
          </a:p>
        </p:txBody>
      </p:sp>
      <p:sp>
        <p:nvSpPr>
          <p:cNvPr id="5" name="页脚占位符 4">
            <a:extLst>
              <a:ext uri="{FF2B5EF4-FFF2-40B4-BE49-F238E27FC236}">
                <a16:creationId xmlns:a16="http://schemas.microsoft.com/office/drawing/2014/main" id="{0FE79EEA-01AC-786C-4F54-AC33727298D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9A37E02-BE85-66A4-14C7-AE73642568DC}"/>
              </a:ext>
            </a:extLst>
          </p:cNvPr>
          <p:cNvSpPr>
            <a:spLocks noGrp="1"/>
          </p:cNvSpPr>
          <p:nvPr>
            <p:ph type="sldNum" sz="quarter" idx="12"/>
          </p:nvPr>
        </p:nvSpPr>
        <p:spPr/>
        <p:txBody>
          <a:bodyPr/>
          <a:lstStyle/>
          <a:p>
            <a:fld id="{6A465370-A6D9-48AB-8812-D71A02481C88}" type="slidenum">
              <a:rPr lang="zh-CN" altLang="en-US" smtClean="0"/>
              <a:t>‹#›</a:t>
            </a:fld>
            <a:endParaRPr lang="zh-CN" altLang="en-US"/>
          </a:p>
        </p:txBody>
      </p:sp>
    </p:spTree>
    <p:extLst>
      <p:ext uri="{BB962C8B-B14F-4D97-AF65-F5344CB8AC3E}">
        <p14:creationId xmlns:p14="http://schemas.microsoft.com/office/powerpoint/2010/main" val="3371253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9886ED3-6519-C116-4DC2-C8CC45AEA4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5EDDB49-D933-964B-E661-042F0E0CB4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DF934F2-1623-7AAC-AEC8-6EC3FB0A32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21F995-6CCA-4258-8FD3-AC4236E3A579}" type="datetimeFigureOut">
              <a:rPr lang="zh-CN" altLang="en-US" smtClean="0"/>
              <a:t>2026/9/20</a:t>
            </a:fld>
            <a:endParaRPr lang="zh-CN" altLang="en-US"/>
          </a:p>
        </p:txBody>
      </p:sp>
      <p:sp>
        <p:nvSpPr>
          <p:cNvPr id="5" name="页脚占位符 4">
            <a:extLst>
              <a:ext uri="{FF2B5EF4-FFF2-40B4-BE49-F238E27FC236}">
                <a16:creationId xmlns:a16="http://schemas.microsoft.com/office/drawing/2014/main" id="{E8BF8C00-556E-2891-C5A4-70755C9EA8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296F057-302E-2C12-F1AD-BF42E4A22D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465370-A6D9-48AB-8812-D71A02481C88}" type="slidenum">
              <a:rPr lang="zh-CN" altLang="en-US" smtClean="0"/>
              <a:t>‹#›</a:t>
            </a:fld>
            <a:endParaRPr lang="zh-CN" altLang="en-US"/>
          </a:p>
        </p:txBody>
      </p:sp>
    </p:spTree>
    <p:extLst>
      <p:ext uri="{BB962C8B-B14F-4D97-AF65-F5344CB8AC3E}">
        <p14:creationId xmlns:p14="http://schemas.microsoft.com/office/powerpoint/2010/main" val="1531869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8E461B-35FB-D8C9-B318-20323B967779}"/>
              </a:ext>
            </a:extLst>
          </p:cNvPr>
          <p:cNvSpPr>
            <a:spLocks noGrp="1"/>
          </p:cNvSpPr>
          <p:nvPr>
            <p:ph type="ctrTitle"/>
          </p:nvPr>
        </p:nvSpPr>
        <p:spPr>
          <a:xfrm>
            <a:off x="357187" y="414337"/>
            <a:ext cx="11477626" cy="2387600"/>
          </a:xfrm>
        </p:spPr>
        <p:txBody>
          <a:bodyPr>
            <a:normAutofit/>
          </a:bodyPr>
          <a:lstStyle/>
          <a:p>
            <a:pPr algn="l"/>
            <a:r>
              <a:rPr lang="zh-CN" altLang="en-US" sz="2000" dirty="0">
                <a:latin typeface="+mn-lt"/>
              </a:rPr>
              <a:t>因为多种压缩量化方法在准确率上没有很好的体现出规律，为了将压缩误差和训练过程中的其他因素分开，可以固定同样真实客户端更新，分别进行</a:t>
            </a:r>
            <a:r>
              <a:rPr lang="en-US" altLang="zh-CN" sz="2000" dirty="0" err="1">
                <a:latin typeface="+mn-lt"/>
              </a:rPr>
              <a:t>srk</a:t>
            </a:r>
            <a:r>
              <a:rPr lang="zh-CN" altLang="en-US" sz="2000" dirty="0">
                <a:latin typeface="+mn-lt"/>
              </a:rPr>
              <a:t>和</a:t>
            </a:r>
            <a:r>
              <a:rPr lang="en-US" altLang="zh-CN" sz="2000" dirty="0" err="1">
                <a:latin typeface="+mn-lt"/>
              </a:rPr>
              <a:t>kashin</a:t>
            </a:r>
            <a:r>
              <a:rPr lang="zh-CN" altLang="en-US" sz="2000" dirty="0">
                <a:latin typeface="+mn-lt"/>
              </a:rPr>
              <a:t>方法的压缩，比较服务器解码、聚合后的 </a:t>
            </a:r>
            <a:r>
              <a:rPr lang="en-US" altLang="zh-CN" sz="2000" dirty="0">
                <a:latin typeface="+mn-lt"/>
              </a:rPr>
              <a:t>NMSE</a:t>
            </a:r>
            <a:r>
              <a:rPr lang="zh-CN" altLang="en-US" sz="2000" dirty="0">
                <a:latin typeface="+mn-lt"/>
              </a:rPr>
              <a:t>。</a:t>
            </a:r>
            <a:r>
              <a:rPr lang="en-US" altLang="zh-CN" sz="2000" dirty="0">
                <a:latin typeface="+mn-lt"/>
              </a:rPr>
              <a:t>NMSE </a:t>
            </a:r>
            <a:r>
              <a:rPr lang="zh-CN" altLang="en-US" sz="2000" dirty="0">
                <a:latin typeface="+mn-lt"/>
              </a:rPr>
              <a:t>用来评价参数更新的质量，而最终是否作用到改善准确率或减少训练的通信量，需要另外验证。</a:t>
            </a:r>
          </a:p>
        </p:txBody>
      </p:sp>
      <p:sp>
        <p:nvSpPr>
          <p:cNvPr id="4" name="文本框 3">
            <a:extLst>
              <a:ext uri="{FF2B5EF4-FFF2-40B4-BE49-F238E27FC236}">
                <a16:creationId xmlns:a16="http://schemas.microsoft.com/office/drawing/2014/main" id="{F6BDBDC4-5259-FB0D-81B9-BDCEA48FFC91}"/>
              </a:ext>
            </a:extLst>
          </p:cNvPr>
          <p:cNvSpPr txBox="1"/>
          <p:nvPr/>
        </p:nvSpPr>
        <p:spPr>
          <a:xfrm>
            <a:off x="357187" y="414337"/>
            <a:ext cx="2333626" cy="584775"/>
          </a:xfrm>
          <a:prstGeom prst="rect">
            <a:avLst/>
          </a:prstGeom>
          <a:noFill/>
        </p:spPr>
        <p:txBody>
          <a:bodyPr wrap="square" rtlCol="0">
            <a:spAutoFit/>
          </a:bodyPr>
          <a:lstStyle/>
          <a:p>
            <a:r>
              <a:rPr lang="en-US" altLang="zh-CN" sz="3200" b="1" dirty="0"/>
              <a:t>·</a:t>
            </a:r>
            <a:r>
              <a:rPr lang="zh-CN" altLang="en-US" sz="3200" b="1" dirty="0"/>
              <a:t>失真误差</a:t>
            </a:r>
          </a:p>
        </p:txBody>
      </p:sp>
      <p:pic>
        <p:nvPicPr>
          <p:cNvPr id="5" name="图片 4">
            <a:extLst>
              <a:ext uri="{FF2B5EF4-FFF2-40B4-BE49-F238E27FC236}">
                <a16:creationId xmlns:a16="http://schemas.microsoft.com/office/drawing/2014/main" id="{90C66E78-4C4F-AB87-C593-5AAC23AE5B9A}"/>
              </a:ext>
            </a:extLst>
          </p:cNvPr>
          <p:cNvPicPr>
            <a:picLocks noChangeAspect="1"/>
          </p:cNvPicPr>
          <p:nvPr/>
        </p:nvPicPr>
        <p:blipFill>
          <a:blip r:embed="rId2"/>
          <a:stretch>
            <a:fillRect/>
          </a:stretch>
        </p:blipFill>
        <p:spPr>
          <a:xfrm>
            <a:off x="357187" y="2801937"/>
            <a:ext cx="3406095" cy="1254127"/>
          </a:xfrm>
          <a:prstGeom prst="rect">
            <a:avLst/>
          </a:prstGeom>
        </p:spPr>
      </p:pic>
      <p:sp>
        <p:nvSpPr>
          <p:cNvPr id="6" name="文本框 5">
            <a:extLst>
              <a:ext uri="{FF2B5EF4-FFF2-40B4-BE49-F238E27FC236}">
                <a16:creationId xmlns:a16="http://schemas.microsoft.com/office/drawing/2014/main" id="{373198E8-E7A7-8D8B-1000-9667BE7DCADB}"/>
              </a:ext>
            </a:extLst>
          </p:cNvPr>
          <p:cNvSpPr txBox="1"/>
          <p:nvPr/>
        </p:nvSpPr>
        <p:spPr>
          <a:xfrm>
            <a:off x="4332849" y="3249637"/>
            <a:ext cx="6119446" cy="923330"/>
          </a:xfrm>
          <a:prstGeom prst="rect">
            <a:avLst/>
          </a:prstGeom>
          <a:noFill/>
        </p:spPr>
        <p:txBody>
          <a:bodyPr wrap="square" rtlCol="0">
            <a:spAutoFit/>
          </a:bodyPr>
          <a:lstStyle/>
          <a:p>
            <a:r>
              <a:rPr lang="zh-CN" altLang="en-US" dirty="0"/>
              <a:t>其中▲</a:t>
            </a:r>
            <a:r>
              <a:rPr lang="en-US" altLang="zh-CN" dirty="0" err="1"/>
              <a:t>i</a:t>
            </a:r>
            <a:r>
              <a:rPr lang="zh-CN" altLang="en-US" dirty="0"/>
              <a:t>是第</a:t>
            </a:r>
            <a:r>
              <a:rPr lang="en-US" altLang="zh-CN" dirty="0" err="1"/>
              <a:t>i</a:t>
            </a:r>
            <a:r>
              <a:rPr lang="zh-CN" altLang="en-US" dirty="0"/>
              <a:t>个客户端的更新值；</a:t>
            </a:r>
            <a:r>
              <a:rPr lang="en-US" altLang="zh-CN" dirty="0"/>
              <a:t>e</a:t>
            </a:r>
            <a:r>
              <a:rPr lang="zh-CN" altLang="en-US" dirty="0"/>
              <a:t>是压缩后的更新值与原始的更新值的误差；除以原始的更新值可以对比不同轮次的压缩质量。</a:t>
            </a:r>
          </a:p>
        </p:txBody>
      </p:sp>
    </p:spTree>
    <p:extLst>
      <p:ext uri="{BB962C8B-B14F-4D97-AF65-F5344CB8AC3E}">
        <p14:creationId xmlns:p14="http://schemas.microsoft.com/office/powerpoint/2010/main" val="4150294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AF84A7-8AE7-20A2-5850-BB6B4D3A2B47}"/>
              </a:ext>
            </a:extLst>
          </p:cNvPr>
          <p:cNvSpPr>
            <a:spLocks noGrp="1"/>
          </p:cNvSpPr>
          <p:nvPr>
            <p:ph type="title"/>
          </p:nvPr>
        </p:nvSpPr>
        <p:spPr>
          <a:xfrm>
            <a:off x="838200" y="365125"/>
            <a:ext cx="4325471" cy="779463"/>
          </a:xfrm>
        </p:spPr>
        <p:txBody>
          <a:bodyPr>
            <a:normAutofit/>
          </a:bodyPr>
          <a:lstStyle/>
          <a:p>
            <a:r>
              <a:rPr lang="en-US" altLang="zh-CN" sz="2800" b="1" dirty="0">
                <a:latin typeface="+mn-ea"/>
                <a:ea typeface="+mn-ea"/>
              </a:rPr>
              <a:t>·</a:t>
            </a:r>
            <a:r>
              <a:rPr lang="zh-CN" altLang="en-US" sz="2800" b="1" dirty="0">
                <a:latin typeface="+mn-ea"/>
                <a:ea typeface="+mn-ea"/>
              </a:rPr>
              <a:t>失真对比实验</a:t>
            </a:r>
          </a:p>
        </p:txBody>
      </p:sp>
      <p:sp>
        <p:nvSpPr>
          <p:cNvPr id="3" name="内容占位符 2">
            <a:extLst>
              <a:ext uri="{FF2B5EF4-FFF2-40B4-BE49-F238E27FC236}">
                <a16:creationId xmlns:a16="http://schemas.microsoft.com/office/drawing/2014/main" id="{7E4DFB1F-3433-8DF9-74FE-A408C0B66B4C}"/>
              </a:ext>
            </a:extLst>
          </p:cNvPr>
          <p:cNvSpPr>
            <a:spLocks noGrp="1"/>
          </p:cNvSpPr>
          <p:nvPr>
            <p:ph idx="1"/>
          </p:nvPr>
        </p:nvSpPr>
        <p:spPr>
          <a:xfrm>
            <a:off x="6096000" y="618565"/>
            <a:ext cx="5257800" cy="5558398"/>
          </a:xfrm>
        </p:spPr>
        <p:txBody>
          <a:bodyPr>
            <a:normAutofit/>
          </a:bodyPr>
          <a:lstStyle/>
          <a:p>
            <a:r>
              <a:rPr lang="zh-CN" altLang="en-US" sz="2000" dirty="0"/>
              <a:t>折线上的点从左到右代表</a:t>
            </a:r>
            <a:r>
              <a:rPr lang="en-US" altLang="zh-CN" sz="2000" dirty="0"/>
              <a:t>b=1</a:t>
            </a:r>
            <a:r>
              <a:rPr lang="zh-CN" altLang="en-US" sz="2000" dirty="0"/>
              <a:t>、</a:t>
            </a:r>
            <a:r>
              <a:rPr lang="en-US" altLang="zh-CN" sz="2000" dirty="0"/>
              <a:t>2</a:t>
            </a:r>
            <a:r>
              <a:rPr lang="zh-CN" altLang="en-US" sz="2000" dirty="0"/>
              <a:t>、</a:t>
            </a:r>
            <a:r>
              <a:rPr lang="en-US" altLang="zh-CN" sz="2000" dirty="0"/>
              <a:t>3</a:t>
            </a:r>
            <a:r>
              <a:rPr lang="zh-CN" altLang="en-US" sz="2000" dirty="0"/>
              <a:t>、</a:t>
            </a:r>
            <a:r>
              <a:rPr lang="en-US" altLang="zh-CN" sz="2000" dirty="0"/>
              <a:t>4</a:t>
            </a:r>
            <a:r>
              <a:rPr lang="zh-CN" altLang="en-US" sz="2000" dirty="0"/>
              <a:t>。蓝色</a:t>
            </a:r>
            <a:r>
              <a:rPr lang="en-US" altLang="zh-CN" sz="2000" dirty="0"/>
              <a:t>:λ=1</a:t>
            </a:r>
            <a:r>
              <a:rPr lang="zh-CN" altLang="en-US" sz="2000" dirty="0"/>
              <a:t>，通信量最少，但同 </a:t>
            </a:r>
            <a:r>
              <a:rPr lang="en-US" altLang="zh-CN" sz="2000" dirty="0"/>
              <a:t>bit </a:t>
            </a:r>
            <a:r>
              <a:rPr lang="zh-CN" altLang="en-US" sz="2000" dirty="0"/>
              <a:t>下失真比</a:t>
            </a:r>
            <a:r>
              <a:rPr lang="en-US" altLang="zh-CN" sz="2000" dirty="0" err="1"/>
              <a:t>srk</a:t>
            </a:r>
            <a:r>
              <a:rPr lang="zh-CN" altLang="en-US" sz="2000" dirty="0"/>
              <a:t>大。橙色</a:t>
            </a:r>
            <a:r>
              <a:rPr lang="en-US" altLang="zh-CN" sz="2000" dirty="0"/>
              <a:t>:λ=1.29</a:t>
            </a:r>
            <a:r>
              <a:rPr lang="zh-CN" altLang="en-US" sz="2000" dirty="0"/>
              <a:t>，与</a:t>
            </a:r>
            <a:r>
              <a:rPr lang="en-US" altLang="zh-CN" sz="2000" dirty="0" err="1"/>
              <a:t>srk</a:t>
            </a:r>
            <a:r>
              <a:rPr lang="zh-CN" altLang="en-US" sz="2000" dirty="0"/>
              <a:t>系数维度、通信开销相同；失真约比</a:t>
            </a:r>
            <a:r>
              <a:rPr lang="en-US" altLang="zh-CN" sz="2000" dirty="0" err="1"/>
              <a:t>srk</a:t>
            </a:r>
            <a:r>
              <a:rPr lang="zh-CN" altLang="en-US" sz="2000" dirty="0"/>
              <a:t>低 </a:t>
            </a:r>
            <a:r>
              <a:rPr lang="en-US" altLang="zh-CN" sz="2000" dirty="0"/>
              <a:t>20%</a:t>
            </a:r>
            <a:r>
              <a:rPr lang="zh-CN" altLang="en-US" sz="2000" dirty="0"/>
              <a:t>。绿色</a:t>
            </a:r>
            <a:r>
              <a:rPr lang="en-US" altLang="zh-CN" sz="2000" dirty="0"/>
              <a:t>λ=1.5</a:t>
            </a:r>
            <a:r>
              <a:rPr lang="zh-CN" altLang="en-US" sz="2000" dirty="0"/>
              <a:t>，通信量更高，但失真最低，约比</a:t>
            </a:r>
            <a:r>
              <a:rPr lang="en-US" altLang="zh-CN" sz="2000" dirty="0" err="1"/>
              <a:t>srk</a:t>
            </a:r>
            <a:r>
              <a:rPr lang="zh-CN" altLang="en-US" sz="2000" dirty="0"/>
              <a:t>低 </a:t>
            </a:r>
            <a:r>
              <a:rPr lang="en-US" altLang="zh-CN" sz="2000" dirty="0"/>
              <a:t>40%</a:t>
            </a:r>
            <a:r>
              <a:rPr lang="zh-CN" altLang="en-US" sz="2000" dirty="0"/>
              <a:t>。</a:t>
            </a:r>
            <a:r>
              <a:rPr lang="en-US" altLang="zh-CN" sz="2000" dirty="0"/>
              <a:t>Original</a:t>
            </a:r>
            <a:r>
              <a:rPr lang="zh-CN" altLang="en-US" sz="2000" dirty="0"/>
              <a:t>：</a:t>
            </a:r>
            <a:r>
              <a:rPr lang="en-US" altLang="zh-CN" sz="2000" dirty="0" err="1"/>
              <a:t>nmse</a:t>
            </a:r>
            <a:r>
              <a:rPr lang="zh-CN" altLang="en-US" sz="2000" dirty="0"/>
              <a:t>恒为</a:t>
            </a:r>
            <a:r>
              <a:rPr lang="en-US" altLang="zh-CN" sz="2000" dirty="0"/>
              <a:t>0</a:t>
            </a:r>
            <a:r>
              <a:rPr lang="zh-CN" altLang="en-US" sz="2000" dirty="0"/>
              <a:t>；由于纵轴是对数坐标无法画出。</a:t>
            </a:r>
            <a:endParaRPr lang="en-US" altLang="zh-CN" sz="2000" dirty="0"/>
          </a:p>
          <a:p>
            <a:r>
              <a:rPr lang="zh-CN" altLang="en-US" sz="2000" dirty="0"/>
              <a:t>可以得到随着</a:t>
            </a:r>
            <a:r>
              <a:rPr lang="en-US" altLang="zh-CN" sz="2000" dirty="0"/>
              <a:t>λ</a:t>
            </a:r>
            <a:r>
              <a:rPr lang="zh-CN" altLang="en-US" sz="2000" dirty="0"/>
              <a:t>增加失真误差减小，说明增加表示的矩阵维度可以降低</a:t>
            </a:r>
            <a:r>
              <a:rPr lang="en-US" altLang="zh-CN" sz="2000" dirty="0" err="1"/>
              <a:t>nmse</a:t>
            </a:r>
            <a:r>
              <a:rPr lang="zh-CN" altLang="en-US" sz="2000" dirty="0"/>
              <a:t>，减小与原始更新的误差。</a:t>
            </a:r>
            <a:endParaRPr lang="en-US" altLang="zh-CN" sz="2000" dirty="0"/>
          </a:p>
          <a:p>
            <a:endParaRPr lang="en-US" altLang="zh-CN" sz="2000" dirty="0"/>
          </a:p>
          <a:p>
            <a:r>
              <a:rPr lang="zh-CN" altLang="en-US" sz="2000" dirty="0"/>
              <a:t>原始参数维度</a:t>
            </a:r>
            <a:r>
              <a:rPr lang="en-US" altLang="zh-CN" sz="2000" dirty="0"/>
              <a:t>d=50890</a:t>
            </a:r>
            <a:r>
              <a:rPr lang="zh-CN" altLang="en-US" sz="2000" dirty="0"/>
              <a:t>，</a:t>
            </a:r>
            <a:r>
              <a:rPr lang="en-US" altLang="zh-CN" sz="2000" dirty="0" err="1"/>
              <a:t>srk</a:t>
            </a:r>
            <a:r>
              <a:rPr lang="zh-CN" altLang="en-US" sz="2000" dirty="0"/>
              <a:t>的</a:t>
            </a:r>
            <a:r>
              <a:rPr lang="en-US" altLang="zh-CN" sz="2000" dirty="0"/>
              <a:t>D=65536</a:t>
            </a:r>
            <a:r>
              <a:rPr lang="zh-CN" altLang="en-US" sz="2000" dirty="0"/>
              <a:t>；</a:t>
            </a:r>
            <a:r>
              <a:rPr lang="en-US" altLang="zh-CN" sz="2000" dirty="0"/>
              <a:t>λ=1.29”</a:t>
            </a:r>
            <a:r>
              <a:rPr lang="zh-CN" altLang="en-US" sz="2000" dirty="0"/>
              <a:t>对应</a:t>
            </a:r>
            <a:r>
              <a:rPr lang="en-US" altLang="zh-CN" sz="2000" dirty="0"/>
              <a:t>65536/50890</a:t>
            </a:r>
            <a:r>
              <a:rPr lang="zh-CN" altLang="en-US" sz="2000" dirty="0"/>
              <a:t>，</a:t>
            </a:r>
            <a:r>
              <a:rPr lang="en-US" altLang="zh-CN" sz="2000" dirty="0" err="1"/>
              <a:t>kashin</a:t>
            </a:r>
            <a:r>
              <a:rPr lang="zh-CN" altLang="en-US" sz="2000" dirty="0"/>
              <a:t>方法使用这个参数可以与</a:t>
            </a:r>
            <a:r>
              <a:rPr lang="en-US" altLang="zh-CN" sz="2000" dirty="0" err="1"/>
              <a:t>srk</a:t>
            </a:r>
            <a:r>
              <a:rPr lang="zh-CN" altLang="en-US" sz="2000" dirty="0"/>
              <a:t>匹配系数维度大小。</a:t>
            </a:r>
          </a:p>
        </p:txBody>
      </p:sp>
      <p:pic>
        <p:nvPicPr>
          <p:cNvPr id="1026" name="Picture 2" descr="新的失真对比图">
            <a:extLst>
              <a:ext uri="{FF2B5EF4-FFF2-40B4-BE49-F238E27FC236}">
                <a16:creationId xmlns:a16="http://schemas.microsoft.com/office/drawing/2014/main" id="{773F4B41-6811-C919-BB5F-94AB18C4B8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32964"/>
            <a:ext cx="5860154" cy="3792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531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927E46-B98F-1CBF-3106-8F4F2BE72AB9}"/>
              </a:ext>
            </a:extLst>
          </p:cNvPr>
          <p:cNvSpPr>
            <a:spLocks noGrp="1"/>
          </p:cNvSpPr>
          <p:nvPr>
            <p:ph type="title"/>
          </p:nvPr>
        </p:nvSpPr>
        <p:spPr>
          <a:xfrm>
            <a:off x="366562" y="230372"/>
            <a:ext cx="5533724" cy="616652"/>
          </a:xfrm>
        </p:spPr>
        <p:txBody>
          <a:bodyPr>
            <a:normAutofit/>
          </a:bodyPr>
          <a:lstStyle/>
          <a:p>
            <a:r>
              <a:rPr lang="en-US" altLang="zh-CN" sz="3200" b="1" dirty="0">
                <a:latin typeface="等线" panose="02010600030101010101" pitchFamily="2" charset="-122"/>
                <a:ea typeface="等线" panose="02010600030101010101" pitchFamily="2" charset="-122"/>
              </a:rPr>
              <a:t>·</a:t>
            </a:r>
            <a:r>
              <a:rPr lang="zh-CN" altLang="en-US" sz="3200" b="1" dirty="0">
                <a:latin typeface="等线" panose="02010600030101010101" pitchFamily="2" charset="-122"/>
                <a:ea typeface="等线" panose="02010600030101010101" pitchFamily="2" charset="-122"/>
              </a:rPr>
              <a:t>不同</a:t>
            </a:r>
            <a:r>
              <a:rPr lang="en-US" altLang="zh-CN" sz="3200" b="1" dirty="0">
                <a:latin typeface="等线" panose="02010600030101010101" pitchFamily="2" charset="-122"/>
                <a:ea typeface="等线" panose="02010600030101010101" pitchFamily="2" charset="-122"/>
              </a:rPr>
              <a:t>λ</a:t>
            </a:r>
            <a:r>
              <a:rPr lang="zh-CN" altLang="en-US" sz="3200" b="1" dirty="0">
                <a:latin typeface="等线" panose="02010600030101010101" pitchFamily="2" charset="-122"/>
                <a:ea typeface="等线" panose="02010600030101010101" pitchFamily="2" charset="-122"/>
              </a:rPr>
              <a:t>取值与</a:t>
            </a:r>
            <a:r>
              <a:rPr lang="en-US" altLang="zh-CN" sz="3200" b="1" dirty="0" err="1">
                <a:latin typeface="等线" panose="02010600030101010101" pitchFamily="2" charset="-122"/>
                <a:ea typeface="等线" panose="02010600030101010101" pitchFamily="2" charset="-122"/>
              </a:rPr>
              <a:t>srk</a:t>
            </a:r>
            <a:r>
              <a:rPr lang="zh-CN" altLang="en-US" sz="3200" b="1" dirty="0">
                <a:latin typeface="等线" panose="02010600030101010101" pitchFamily="2" charset="-122"/>
                <a:ea typeface="等线" panose="02010600030101010101" pitchFamily="2" charset="-122"/>
              </a:rPr>
              <a:t>的误差对比</a:t>
            </a:r>
          </a:p>
        </p:txBody>
      </p:sp>
      <p:sp>
        <p:nvSpPr>
          <p:cNvPr id="3" name="内容占位符 2">
            <a:extLst>
              <a:ext uri="{FF2B5EF4-FFF2-40B4-BE49-F238E27FC236}">
                <a16:creationId xmlns:a16="http://schemas.microsoft.com/office/drawing/2014/main" id="{1E90BA1C-B2FF-3681-446F-411BD21B2E7E}"/>
              </a:ext>
            </a:extLst>
          </p:cNvPr>
          <p:cNvSpPr>
            <a:spLocks noGrp="1"/>
          </p:cNvSpPr>
          <p:nvPr>
            <p:ph idx="1"/>
          </p:nvPr>
        </p:nvSpPr>
        <p:spPr>
          <a:xfrm>
            <a:off x="6371924" y="308008"/>
            <a:ext cx="4981876" cy="5868955"/>
          </a:xfrm>
        </p:spPr>
        <p:txBody>
          <a:bodyPr>
            <a:normAutofit/>
          </a:bodyPr>
          <a:lstStyle/>
          <a:p>
            <a:pPr marL="0" indent="0">
              <a:buNone/>
            </a:pPr>
            <a:r>
              <a:rPr lang="zh-CN" altLang="en-US" sz="1800" dirty="0"/>
              <a:t>左图研究为保持与</a:t>
            </a:r>
            <a:r>
              <a:rPr lang="en-US" altLang="zh-CN" sz="1800" dirty="0" err="1"/>
              <a:t>srk</a:t>
            </a:r>
            <a:r>
              <a:rPr lang="zh-CN" altLang="en-US" sz="1800" dirty="0"/>
              <a:t>通信量相等，在</a:t>
            </a:r>
            <a:r>
              <a:rPr lang="en-US" altLang="zh-CN" sz="1800" dirty="0"/>
              <a:t>λ</a:t>
            </a:r>
            <a:r>
              <a:rPr lang="zh-CN" altLang="en-US" sz="1800" dirty="0"/>
              <a:t>增大同时减小量化</a:t>
            </a:r>
            <a:r>
              <a:rPr lang="en-US" altLang="zh-CN" sz="1800" dirty="0"/>
              <a:t>bit</a:t>
            </a:r>
            <a:r>
              <a:rPr lang="zh-CN" altLang="en-US" sz="1800" dirty="0"/>
              <a:t>，失真误差值的对比。横轴第一行是</a:t>
            </a:r>
            <a:r>
              <a:rPr lang="en-US" altLang="zh-CN" sz="1800" dirty="0" err="1"/>
              <a:t>srk</a:t>
            </a:r>
            <a:r>
              <a:rPr lang="zh-CN" altLang="en-US" sz="1800" dirty="0"/>
              <a:t>的量化</a:t>
            </a:r>
            <a:r>
              <a:rPr lang="en-US" altLang="zh-CN" sz="1800" dirty="0"/>
              <a:t>bit/</a:t>
            </a:r>
            <a:r>
              <a:rPr lang="en-US" altLang="zh-CN" sz="1800" dirty="0" err="1"/>
              <a:t>kashin</a:t>
            </a:r>
            <a:r>
              <a:rPr lang="zh-CN" altLang="en-US" sz="1800" dirty="0"/>
              <a:t>的量化</a:t>
            </a:r>
            <a:r>
              <a:rPr lang="en-US" altLang="zh-CN" sz="1800" dirty="0"/>
              <a:t>bit</a:t>
            </a:r>
            <a:r>
              <a:rPr lang="zh-CN" altLang="en-US" sz="1800" dirty="0"/>
              <a:t>；第二行是为了保持相同通信量的</a:t>
            </a:r>
            <a:r>
              <a:rPr lang="en-US" altLang="zh-CN" sz="1800" dirty="0"/>
              <a:t>λ</a:t>
            </a:r>
            <a:r>
              <a:rPr lang="zh-CN" altLang="en-US" sz="1800" dirty="0"/>
              <a:t>取值。</a:t>
            </a:r>
            <a:endParaRPr lang="en-US" altLang="zh-CN" sz="1800" dirty="0"/>
          </a:p>
          <a:p>
            <a:pPr marL="0" indent="0">
              <a:buNone/>
            </a:pPr>
            <a:r>
              <a:rPr lang="zh-CN" altLang="en-US" sz="1800" dirty="0"/>
              <a:t>可以看出相同通信开销时，只有在相同量化</a:t>
            </a:r>
            <a:r>
              <a:rPr lang="en-US" altLang="zh-CN" sz="1800" dirty="0"/>
              <a:t>bit</a:t>
            </a:r>
            <a:r>
              <a:rPr lang="zh-CN" altLang="en-US" sz="1800" dirty="0"/>
              <a:t>值下</a:t>
            </a:r>
            <a:r>
              <a:rPr lang="en-US" altLang="zh-CN" sz="1800" dirty="0" err="1"/>
              <a:t>kashin</a:t>
            </a:r>
            <a:r>
              <a:rPr lang="zh-CN" altLang="en-US" sz="1800" dirty="0"/>
              <a:t>才有优势；</a:t>
            </a:r>
            <a:r>
              <a:rPr lang="en-US" altLang="zh-CN" sz="1800" dirty="0" err="1"/>
              <a:t>kashin</a:t>
            </a:r>
            <a:r>
              <a:rPr lang="zh-CN" altLang="en-US" sz="1800" dirty="0"/>
              <a:t>量化</a:t>
            </a:r>
            <a:r>
              <a:rPr lang="en-US" altLang="zh-CN" sz="1800" dirty="0"/>
              <a:t>bit</a:t>
            </a:r>
            <a:r>
              <a:rPr lang="zh-CN" altLang="en-US" sz="1800" dirty="0"/>
              <a:t>值更小时，通过增大</a:t>
            </a:r>
            <a:r>
              <a:rPr lang="en-US" altLang="zh-CN" sz="1800" dirty="0"/>
              <a:t>λ</a:t>
            </a:r>
            <a:r>
              <a:rPr lang="zh-CN" altLang="en-US" sz="1800" dirty="0"/>
              <a:t>的值无法达到相同的失真误差。</a:t>
            </a:r>
            <a:endParaRPr lang="en-US" altLang="zh-CN" sz="1800" dirty="0"/>
          </a:p>
          <a:p>
            <a:pPr marL="0" indent="0">
              <a:buNone/>
            </a:pPr>
            <a:r>
              <a:rPr lang="zh-CN" altLang="en-US" sz="1800" dirty="0"/>
              <a:t>在</a:t>
            </a:r>
            <a:r>
              <a:rPr lang="en-US" altLang="zh-CN" sz="1400" dirty="0">
                <a:latin typeface="Timess New Roman"/>
              </a:rPr>
              <a:t>Efficient Randomized Subspace Embeddings for Distributed  Optimization under a Communication Budget</a:t>
            </a:r>
            <a:r>
              <a:rPr lang="zh-CN" altLang="en-US" sz="1800" dirty="0"/>
              <a:t>文章中也实验说明，由于比特预算固定</a:t>
            </a:r>
            <a:r>
              <a:rPr lang="en-US" altLang="zh-CN" sz="1800" dirty="0"/>
              <a:t>,Kashin</a:t>
            </a:r>
            <a:r>
              <a:rPr lang="zh-CN" altLang="en-US" sz="1800" dirty="0"/>
              <a:t>表示中信息均匀分布 的预期效果被每个坐标更差的量化分辨率所抵消</a:t>
            </a:r>
            <a:r>
              <a:rPr lang="en-US" altLang="zh-CN" sz="1800" dirty="0"/>
              <a:t>,</a:t>
            </a:r>
            <a:r>
              <a:rPr lang="zh-CN" altLang="en-US" sz="1800" dirty="0"/>
              <a:t>从而导致没有净收益</a:t>
            </a:r>
            <a:r>
              <a:rPr lang="en-US" altLang="zh-CN" sz="1800" dirty="0"/>
              <a:t>(</a:t>
            </a:r>
            <a:r>
              <a:rPr lang="zh-CN" altLang="en-US" sz="1800" dirty="0"/>
              <a:t>甚至更差</a:t>
            </a:r>
            <a:r>
              <a:rPr lang="en-US" altLang="zh-CN" sz="1800" dirty="0"/>
              <a:t>)</a:t>
            </a:r>
            <a:r>
              <a:rPr lang="zh-CN" altLang="en-US" sz="1800" dirty="0"/>
              <a:t>。</a:t>
            </a:r>
          </a:p>
        </p:txBody>
      </p:sp>
      <p:pic>
        <p:nvPicPr>
          <p:cNvPr id="5" name="图片 4">
            <a:extLst>
              <a:ext uri="{FF2B5EF4-FFF2-40B4-BE49-F238E27FC236}">
                <a16:creationId xmlns:a16="http://schemas.microsoft.com/office/drawing/2014/main" id="{413B6164-64A5-BECA-1DCB-8A53FAAEB870}"/>
              </a:ext>
            </a:extLst>
          </p:cNvPr>
          <p:cNvPicPr>
            <a:picLocks noChangeAspect="1"/>
          </p:cNvPicPr>
          <p:nvPr/>
        </p:nvPicPr>
        <p:blipFill>
          <a:blip r:embed="rId2"/>
          <a:stretch>
            <a:fillRect/>
          </a:stretch>
        </p:blipFill>
        <p:spPr>
          <a:xfrm>
            <a:off x="163629" y="1746257"/>
            <a:ext cx="5736657" cy="4094110"/>
          </a:xfrm>
          <a:prstGeom prst="rect">
            <a:avLst/>
          </a:prstGeom>
        </p:spPr>
      </p:pic>
    </p:spTree>
    <p:extLst>
      <p:ext uri="{BB962C8B-B14F-4D97-AF65-F5344CB8AC3E}">
        <p14:creationId xmlns:p14="http://schemas.microsoft.com/office/powerpoint/2010/main" val="3754401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内容占位符 10">
            <a:extLst>
              <a:ext uri="{FF2B5EF4-FFF2-40B4-BE49-F238E27FC236}">
                <a16:creationId xmlns:a16="http://schemas.microsoft.com/office/drawing/2014/main" id="{6B5C2B31-E523-CCDA-E5A1-CCF58694C01A}"/>
              </a:ext>
            </a:extLst>
          </p:cNvPr>
          <p:cNvGraphicFramePr>
            <a:graphicFrameLocks noGrp="1"/>
          </p:cNvGraphicFramePr>
          <p:nvPr>
            <p:ph idx="1"/>
            <p:extLst>
              <p:ext uri="{D42A27DB-BD31-4B8C-83A1-F6EECF244321}">
                <p14:modId xmlns:p14="http://schemas.microsoft.com/office/powerpoint/2010/main" val="4071630910"/>
              </p:ext>
            </p:extLst>
          </p:nvPr>
        </p:nvGraphicFramePr>
        <p:xfrm>
          <a:off x="0" y="2261035"/>
          <a:ext cx="6979920" cy="1629630"/>
        </p:xfrm>
        <a:graphic>
          <a:graphicData uri="http://schemas.openxmlformats.org/drawingml/2006/table">
            <a:tbl>
              <a:tblPr/>
              <a:tblGrid>
                <a:gridCol w="3014596">
                  <a:extLst>
                    <a:ext uri="{9D8B030D-6E8A-4147-A177-3AD203B41FA5}">
                      <a16:colId xmlns:a16="http://schemas.microsoft.com/office/drawing/2014/main" val="2866191811"/>
                    </a:ext>
                  </a:extLst>
                </a:gridCol>
                <a:gridCol w="1638684">
                  <a:extLst>
                    <a:ext uri="{9D8B030D-6E8A-4147-A177-3AD203B41FA5}">
                      <a16:colId xmlns:a16="http://schemas.microsoft.com/office/drawing/2014/main" val="3636443277"/>
                    </a:ext>
                  </a:extLst>
                </a:gridCol>
                <a:gridCol w="2326640">
                  <a:extLst>
                    <a:ext uri="{9D8B030D-6E8A-4147-A177-3AD203B41FA5}">
                      <a16:colId xmlns:a16="http://schemas.microsoft.com/office/drawing/2014/main" val="1269146176"/>
                    </a:ext>
                  </a:extLst>
                </a:gridCol>
              </a:tblGrid>
              <a:tr h="543210">
                <a:tc>
                  <a:txBody>
                    <a:bodyPr/>
                    <a:lstStyle/>
                    <a:p>
                      <a:pPr>
                        <a:buNone/>
                      </a:pPr>
                      <a:r>
                        <a:rPr lang="zh-CN" altLang="en-US" sz="1600" dirty="0"/>
                        <a:t>指标</a:t>
                      </a:r>
                    </a:p>
                  </a:txBody>
                  <a:tcPr marL="44022" marR="44022" marT="22011" marB="22011" anchor="ctr">
                    <a:lnL>
                      <a:noFill/>
                    </a:lnL>
                    <a:lnR>
                      <a:noFill/>
                    </a:lnR>
                    <a:lnT>
                      <a:noFill/>
                    </a:lnT>
                    <a:lnB>
                      <a:noFill/>
                    </a:lnB>
                    <a:noFill/>
                  </a:tcPr>
                </a:tc>
                <a:tc>
                  <a:txBody>
                    <a:bodyPr/>
                    <a:lstStyle/>
                    <a:p>
                      <a:pPr>
                        <a:buNone/>
                      </a:pPr>
                      <a:r>
                        <a:rPr lang="en-US" sz="1600" dirty="0"/>
                        <a:t>SRK</a:t>
                      </a:r>
                    </a:p>
                  </a:txBody>
                  <a:tcPr marL="44022" marR="44022" marT="22011" marB="22011" anchor="ctr">
                    <a:lnL>
                      <a:noFill/>
                    </a:lnL>
                    <a:lnR>
                      <a:noFill/>
                    </a:lnR>
                    <a:lnT>
                      <a:noFill/>
                    </a:lnT>
                    <a:lnB>
                      <a:noFill/>
                    </a:lnB>
                    <a:noFill/>
                  </a:tcPr>
                </a:tc>
                <a:tc>
                  <a:txBody>
                    <a:bodyPr/>
                    <a:lstStyle/>
                    <a:p>
                      <a:pPr>
                        <a:buNone/>
                      </a:pPr>
                      <a:r>
                        <a:rPr lang="en-US" sz="1600" dirty="0"/>
                        <a:t>Kashi</a:t>
                      </a:r>
                      <a:r>
                        <a:rPr lang="en-US" altLang="zh-CN" sz="1600" dirty="0"/>
                        <a:t>n</a:t>
                      </a:r>
                      <a:endParaRPr lang="en-US" sz="1600" dirty="0"/>
                    </a:p>
                  </a:txBody>
                  <a:tcPr marL="44022" marR="44022" marT="22011" marB="22011" anchor="ctr">
                    <a:lnL>
                      <a:noFill/>
                    </a:lnL>
                    <a:lnR>
                      <a:noFill/>
                    </a:lnR>
                    <a:lnT>
                      <a:noFill/>
                    </a:lnT>
                    <a:lnB>
                      <a:noFill/>
                    </a:lnB>
                    <a:noFill/>
                  </a:tcPr>
                </a:tc>
                <a:extLst>
                  <a:ext uri="{0D108BD9-81ED-4DB2-BD59-A6C34878D82A}">
                    <a16:rowId xmlns:a16="http://schemas.microsoft.com/office/drawing/2014/main" val="3759830477"/>
                  </a:ext>
                </a:extLst>
              </a:tr>
              <a:tr h="543210">
                <a:tc>
                  <a:txBody>
                    <a:bodyPr/>
                    <a:lstStyle/>
                    <a:p>
                      <a:pPr>
                        <a:buNone/>
                      </a:pPr>
                      <a:r>
                        <a:rPr lang="zh-CN" altLang="en-US" sz="1600" dirty="0"/>
                        <a:t>第 </a:t>
                      </a:r>
                      <a:r>
                        <a:rPr lang="en-US" altLang="zh-CN" sz="1600" dirty="0"/>
                        <a:t>50 </a:t>
                      </a:r>
                      <a:r>
                        <a:rPr lang="zh-CN" altLang="en-US" sz="1600" dirty="0"/>
                        <a:t>轮平均测试准确率</a:t>
                      </a:r>
                    </a:p>
                  </a:txBody>
                  <a:tcPr marL="44022" marR="44022" marT="22011" marB="22011" anchor="ctr">
                    <a:lnL>
                      <a:noFill/>
                    </a:lnL>
                    <a:lnR>
                      <a:noFill/>
                    </a:lnR>
                    <a:lnT>
                      <a:noFill/>
                    </a:lnT>
                    <a:lnB>
                      <a:noFill/>
                    </a:lnB>
                    <a:noFill/>
                  </a:tcPr>
                </a:tc>
                <a:tc>
                  <a:txBody>
                    <a:bodyPr/>
                    <a:lstStyle/>
                    <a:p>
                      <a:pPr>
                        <a:buNone/>
                      </a:pPr>
                      <a:r>
                        <a:rPr lang="en-US" altLang="zh-CN" sz="1600" dirty="0"/>
                        <a:t>92.784%</a:t>
                      </a:r>
                    </a:p>
                  </a:txBody>
                  <a:tcPr marL="44022" marR="44022" marT="22011" marB="22011" anchor="ctr">
                    <a:lnL>
                      <a:noFill/>
                    </a:lnL>
                    <a:lnR>
                      <a:noFill/>
                    </a:lnR>
                    <a:lnT>
                      <a:noFill/>
                    </a:lnT>
                    <a:lnB>
                      <a:noFill/>
                    </a:lnB>
                    <a:noFill/>
                  </a:tcPr>
                </a:tc>
                <a:tc>
                  <a:txBody>
                    <a:bodyPr/>
                    <a:lstStyle/>
                    <a:p>
                      <a:pPr>
                        <a:buNone/>
                      </a:pPr>
                      <a:r>
                        <a:rPr lang="en-US" altLang="zh-CN" sz="1600" dirty="0"/>
                        <a:t>92.878%</a:t>
                      </a:r>
                    </a:p>
                  </a:txBody>
                  <a:tcPr marL="44022" marR="44022" marT="22011" marB="22011" anchor="ctr">
                    <a:lnL>
                      <a:noFill/>
                    </a:lnL>
                    <a:lnR>
                      <a:noFill/>
                    </a:lnR>
                    <a:lnT>
                      <a:noFill/>
                    </a:lnT>
                    <a:lnB>
                      <a:noFill/>
                    </a:lnB>
                    <a:noFill/>
                  </a:tcPr>
                </a:tc>
                <a:extLst>
                  <a:ext uri="{0D108BD9-81ED-4DB2-BD59-A6C34878D82A}">
                    <a16:rowId xmlns:a16="http://schemas.microsoft.com/office/drawing/2014/main" val="784374756"/>
                  </a:ext>
                </a:extLst>
              </a:tr>
              <a:tr h="543210">
                <a:tc>
                  <a:txBody>
                    <a:bodyPr/>
                    <a:lstStyle/>
                    <a:p>
                      <a:pPr>
                        <a:buNone/>
                      </a:pPr>
                      <a:r>
                        <a:rPr lang="zh-CN" altLang="en-US" sz="1600"/>
                        <a:t>首次达到 </a:t>
                      </a:r>
                      <a:r>
                        <a:rPr lang="en-US" altLang="zh-CN" sz="1600"/>
                        <a:t>92% </a:t>
                      </a:r>
                      <a:r>
                        <a:rPr lang="zh-CN" altLang="en-US" sz="1600"/>
                        <a:t>的平均轮数</a:t>
                      </a:r>
                    </a:p>
                  </a:txBody>
                  <a:tcPr marL="44022" marR="44022" marT="22011" marB="22011" anchor="ctr">
                    <a:lnL>
                      <a:noFill/>
                    </a:lnL>
                    <a:lnR>
                      <a:noFill/>
                    </a:lnR>
                    <a:lnT>
                      <a:noFill/>
                    </a:lnT>
                    <a:lnB>
                      <a:noFill/>
                    </a:lnB>
                    <a:noFill/>
                  </a:tcPr>
                </a:tc>
                <a:tc>
                  <a:txBody>
                    <a:bodyPr/>
                    <a:lstStyle/>
                    <a:p>
                      <a:pPr>
                        <a:buNone/>
                      </a:pPr>
                      <a:r>
                        <a:rPr lang="en-US" altLang="zh-CN" sz="1600"/>
                        <a:t>21.2</a:t>
                      </a:r>
                    </a:p>
                  </a:txBody>
                  <a:tcPr marL="44022" marR="44022" marT="22011" marB="22011" anchor="ctr">
                    <a:lnL>
                      <a:noFill/>
                    </a:lnL>
                    <a:lnR>
                      <a:noFill/>
                    </a:lnR>
                    <a:lnT>
                      <a:noFill/>
                    </a:lnT>
                    <a:lnB>
                      <a:noFill/>
                    </a:lnB>
                    <a:noFill/>
                  </a:tcPr>
                </a:tc>
                <a:tc>
                  <a:txBody>
                    <a:bodyPr/>
                    <a:lstStyle/>
                    <a:p>
                      <a:pPr>
                        <a:buNone/>
                      </a:pPr>
                      <a:r>
                        <a:rPr lang="en-US" altLang="zh-CN" sz="1600" dirty="0"/>
                        <a:t>21.8</a:t>
                      </a:r>
                    </a:p>
                  </a:txBody>
                  <a:tcPr marL="44022" marR="44022" marT="22011" marB="22011" anchor="ctr">
                    <a:lnL>
                      <a:noFill/>
                    </a:lnL>
                    <a:lnR>
                      <a:noFill/>
                    </a:lnR>
                    <a:lnT>
                      <a:noFill/>
                    </a:lnT>
                    <a:lnB>
                      <a:noFill/>
                    </a:lnB>
                    <a:noFill/>
                  </a:tcPr>
                </a:tc>
                <a:extLst>
                  <a:ext uri="{0D108BD9-81ED-4DB2-BD59-A6C34878D82A}">
                    <a16:rowId xmlns:a16="http://schemas.microsoft.com/office/drawing/2014/main" val="3015647674"/>
                  </a:ext>
                </a:extLst>
              </a:tr>
            </a:tbl>
          </a:graphicData>
        </a:graphic>
      </p:graphicFrame>
      <p:sp>
        <p:nvSpPr>
          <p:cNvPr id="4" name="标题 1">
            <a:extLst>
              <a:ext uri="{FF2B5EF4-FFF2-40B4-BE49-F238E27FC236}">
                <a16:creationId xmlns:a16="http://schemas.microsoft.com/office/drawing/2014/main" id="{3E81A416-FBED-C430-E176-878F5FFC4984}"/>
              </a:ext>
            </a:extLst>
          </p:cNvPr>
          <p:cNvSpPr>
            <a:spLocks noGrp="1"/>
          </p:cNvSpPr>
          <p:nvPr>
            <p:ph type="title"/>
          </p:nvPr>
        </p:nvSpPr>
        <p:spPr>
          <a:xfrm>
            <a:off x="366562" y="230372"/>
            <a:ext cx="5533724" cy="616652"/>
          </a:xfrm>
        </p:spPr>
        <p:txBody>
          <a:bodyPr>
            <a:normAutofit fontScale="90000"/>
          </a:bodyPr>
          <a:lstStyle/>
          <a:p>
            <a:r>
              <a:rPr lang="en-US" altLang="zh-CN" sz="3200" b="1" dirty="0">
                <a:latin typeface="等线" panose="02010600030101010101" pitchFamily="2" charset="-122"/>
                <a:ea typeface="等线" panose="02010600030101010101" pitchFamily="2" charset="-122"/>
              </a:rPr>
              <a:t>·</a:t>
            </a:r>
            <a:r>
              <a:rPr lang="zh-CN" altLang="en-US" sz="3200" b="1" dirty="0">
                <a:latin typeface="等线" panose="02010600030101010101" pitchFamily="2" charset="-122"/>
                <a:ea typeface="等线" panose="02010600030101010101" pitchFamily="2" charset="-122"/>
              </a:rPr>
              <a:t>失真优势是否转化为训练收益</a:t>
            </a:r>
          </a:p>
        </p:txBody>
      </p:sp>
      <p:sp>
        <p:nvSpPr>
          <p:cNvPr id="12" name="Rectangle 4">
            <a:extLst>
              <a:ext uri="{FF2B5EF4-FFF2-40B4-BE49-F238E27FC236}">
                <a16:creationId xmlns:a16="http://schemas.microsoft.com/office/drawing/2014/main" id="{CC45EE2E-5982-56CB-A3D4-1AD46C079464}"/>
              </a:ext>
            </a:extLst>
          </p:cNvPr>
          <p:cNvSpPr>
            <a:spLocks noChangeArrowheads="1"/>
          </p:cNvSpPr>
          <p:nvPr/>
        </p:nvSpPr>
        <p:spPr bwMode="auto">
          <a:xfrm>
            <a:off x="465228" y="1337705"/>
            <a:ext cx="506253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chemeClr val="tx1"/>
                </a:solidFill>
                <a:effectLst/>
                <a:latin typeface="Arial" panose="020B0604020202020204" pitchFamily="34" charset="0"/>
              </a:rPr>
              <a:t>Srk</a:t>
            </a:r>
            <a:r>
              <a:rPr kumimoji="0" lang="zh-CN" altLang="en-US" sz="1800" b="1" i="0" u="none" strike="noStrike" cap="none" normalizeH="0" baseline="0" dirty="0">
                <a:ln>
                  <a:noFill/>
                </a:ln>
                <a:solidFill>
                  <a:schemeClr val="tx1"/>
                </a:solidFill>
                <a:effectLst/>
                <a:latin typeface="Arial" panose="020B0604020202020204" pitchFamily="34" charset="0"/>
              </a:rPr>
              <a:t>与</a:t>
            </a:r>
            <a:r>
              <a:rPr kumimoji="0" lang="en-US" altLang="zh-CN" sz="1800" b="1" i="0" u="none" strike="noStrike" cap="none" normalizeH="0" baseline="0" dirty="0" err="1">
                <a:ln>
                  <a:noFill/>
                </a:ln>
                <a:solidFill>
                  <a:schemeClr val="tx1"/>
                </a:solidFill>
                <a:effectLst/>
                <a:latin typeface="Arial" panose="020B0604020202020204" pitchFamily="34" charset="0"/>
              </a:rPr>
              <a:t>kashin</a:t>
            </a:r>
            <a:r>
              <a:rPr kumimoji="0" lang="zh-CN" altLang="en-US" sz="1800" b="1" i="0" u="none" strike="noStrike" cap="none" normalizeH="0" baseline="0" dirty="0">
                <a:ln>
                  <a:noFill/>
                </a:ln>
                <a:solidFill>
                  <a:schemeClr val="tx1"/>
                </a:solidFill>
                <a:effectLst/>
                <a:latin typeface="Arial" panose="020B0604020202020204" pitchFamily="34" charset="0"/>
              </a:rPr>
              <a:t>，</a:t>
            </a:r>
            <a:r>
              <a:rPr kumimoji="0" lang="zh-CN" altLang="zh-CN" sz="1800" b="1" i="0" u="none" strike="noStrike" cap="none" normalizeH="0" baseline="0" dirty="0">
                <a:ln>
                  <a:noFill/>
                </a:ln>
                <a:solidFill>
                  <a:schemeClr val="tx1"/>
                </a:solidFill>
                <a:effectLst/>
                <a:latin typeface="Arial" panose="020B0604020202020204" pitchFamily="34" charset="0"/>
              </a:rPr>
              <a:t>同D=65536</a:t>
            </a:r>
            <a:r>
              <a:rPr kumimoji="0" lang="en-US" altLang="zh-CN" sz="1800" b="1" i="0" u="none" strike="noStrike" cap="none" normalizeH="0" baseline="0" dirty="0">
                <a:ln>
                  <a:noFill/>
                </a:ln>
                <a:solidFill>
                  <a:schemeClr val="tx1"/>
                </a:solidFill>
                <a:effectLst/>
                <a:latin typeface="Arial" panose="020B0604020202020204" pitchFamily="34" charset="0"/>
              </a:rPr>
              <a:t>,</a:t>
            </a:r>
            <a:r>
              <a:rPr kumimoji="0" lang="zh-CN" altLang="en-US" sz="1800" b="1" i="0" u="none" strike="noStrike" cap="none" normalizeH="0" baseline="0" dirty="0">
                <a:ln>
                  <a:noFill/>
                </a:ln>
                <a:solidFill>
                  <a:schemeClr val="tx1"/>
                </a:solidFill>
                <a:effectLst/>
                <a:latin typeface="Arial" panose="020B0604020202020204" pitchFamily="34" charset="0"/>
              </a:rPr>
              <a:t>采用</a:t>
            </a:r>
            <a:r>
              <a:rPr lang="en-US" altLang="zh-CN" b="1" dirty="0">
                <a:latin typeface="Arial" panose="020B0604020202020204" pitchFamily="34" charset="0"/>
              </a:rPr>
              <a:t>2</a:t>
            </a:r>
            <a:r>
              <a:rPr kumimoji="0" lang="zh-CN" altLang="zh-CN" sz="1800" b="1" i="0" u="none" strike="noStrike" cap="none" normalizeH="0" baseline="0" dirty="0">
                <a:ln>
                  <a:noFill/>
                </a:ln>
                <a:solidFill>
                  <a:schemeClr val="tx1"/>
                </a:solidFill>
                <a:effectLst/>
                <a:latin typeface="Arial" panose="020B0604020202020204" pitchFamily="34" charset="0"/>
              </a:rPr>
              <a:t>-bit</a:t>
            </a:r>
            <a:r>
              <a:rPr kumimoji="0" lang="zh-CN" altLang="en-US" sz="1800" b="1" i="0" u="none" strike="noStrike" cap="none" normalizeH="0" baseline="0" dirty="0">
                <a:ln>
                  <a:noFill/>
                </a:ln>
                <a:solidFill>
                  <a:schemeClr val="tx1"/>
                </a:solidFill>
                <a:effectLst/>
                <a:latin typeface="Arial" panose="020B0604020202020204" pitchFamily="34" charset="0"/>
              </a:rPr>
              <a:t>均匀量化</a:t>
            </a:r>
            <a:r>
              <a:rPr kumimoji="0" lang="zh-CN" altLang="zh-CN" sz="1800" b="1" i="0" u="none" strike="noStrike" cap="none" normalizeH="0" baseline="0" dirty="0">
                <a:ln>
                  <a:noFill/>
                </a:ln>
                <a:solidFill>
                  <a:schemeClr val="tx1"/>
                </a:solidFill>
                <a:effectLst/>
                <a:latin typeface="Arial" panose="020B0604020202020204" pitchFamily="34" charset="0"/>
              </a:rPr>
              <a:t>，5 个种子、50 轮训练。</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4" name="内容占位符 2">
            <a:extLst>
              <a:ext uri="{FF2B5EF4-FFF2-40B4-BE49-F238E27FC236}">
                <a16:creationId xmlns:a16="http://schemas.microsoft.com/office/drawing/2014/main" id="{E7ACF9FF-A3E8-4394-220E-BC2B246A9ABD}"/>
              </a:ext>
            </a:extLst>
          </p:cNvPr>
          <p:cNvSpPr txBox="1">
            <a:spLocks/>
          </p:cNvSpPr>
          <p:nvPr/>
        </p:nvSpPr>
        <p:spPr>
          <a:xfrm>
            <a:off x="6096000" y="298806"/>
            <a:ext cx="5533725" cy="35918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从</a:t>
            </a:r>
            <a:r>
              <a:rPr lang="zh-CN" altLang="en-US" sz="2400" dirty="0"/>
              <a:t>准确率上可以观察到小幅正向变化，但是也有</a:t>
            </a:r>
            <a:r>
              <a:rPr lang="en-US" altLang="zh-CN" sz="2400" dirty="0"/>
              <a:t>1</a:t>
            </a:r>
            <a:r>
              <a:rPr lang="zh-CN" altLang="en-US" sz="2400" dirty="0"/>
              <a:t>个种子是</a:t>
            </a:r>
            <a:r>
              <a:rPr lang="en-US" altLang="zh-CN" sz="2400" dirty="0" err="1"/>
              <a:t>srk</a:t>
            </a:r>
            <a:r>
              <a:rPr lang="zh-CN" altLang="en-US" sz="2400" dirty="0"/>
              <a:t>效果更好的，无法确定提升。</a:t>
            </a:r>
            <a:endParaRPr lang="en-US" altLang="zh-CN" sz="2400" dirty="0"/>
          </a:p>
          <a:p>
            <a:r>
              <a:rPr lang="en-US" altLang="zh-CN" sz="2400" dirty="0"/>
              <a:t>Kashin</a:t>
            </a:r>
            <a:r>
              <a:rPr lang="zh-CN" altLang="en-US" sz="2400" dirty="0"/>
              <a:t>方法达到</a:t>
            </a:r>
            <a:r>
              <a:rPr lang="en-US" altLang="zh-CN" sz="2400" dirty="0"/>
              <a:t>92</a:t>
            </a:r>
            <a:r>
              <a:rPr lang="zh-CN" altLang="en-US" sz="2400" dirty="0"/>
              <a:t>的准确率消耗了更多轮数，说明通信量开销反而较</a:t>
            </a:r>
            <a:r>
              <a:rPr lang="en-US" altLang="zh-CN" sz="2400" dirty="0" err="1"/>
              <a:t>srk</a:t>
            </a:r>
            <a:r>
              <a:rPr lang="zh-CN" altLang="en-US" sz="2400" dirty="0"/>
              <a:t>更大。</a:t>
            </a:r>
            <a:endParaRPr lang="en-US" altLang="zh-CN" sz="2400" dirty="0"/>
          </a:p>
          <a:p>
            <a:r>
              <a:rPr lang="zh-CN" altLang="en-US" sz="2400" dirty="0"/>
              <a:t>同时</a:t>
            </a:r>
            <a:r>
              <a:rPr lang="en-US" altLang="zh-CN" sz="2400" dirty="0" err="1"/>
              <a:t>kashin</a:t>
            </a:r>
            <a:r>
              <a:rPr lang="zh-CN" altLang="en-US" sz="2400" dirty="0"/>
              <a:t>具有更复杂的计算过程，平均构建时间</a:t>
            </a:r>
            <a:r>
              <a:rPr lang="en-US" altLang="zh-CN" sz="2400" dirty="0"/>
              <a:t>70ms</a:t>
            </a:r>
            <a:r>
              <a:rPr lang="zh-CN" altLang="en-US" sz="2400" dirty="0"/>
              <a:t>，对比</a:t>
            </a:r>
            <a:r>
              <a:rPr lang="en-US" altLang="zh-CN" sz="2400" dirty="0" err="1"/>
              <a:t>srk</a:t>
            </a:r>
            <a:r>
              <a:rPr lang="zh-CN" altLang="en-US" sz="2400" dirty="0"/>
              <a:t>只需要</a:t>
            </a:r>
            <a:r>
              <a:rPr lang="en-US" altLang="zh-CN" sz="2400" dirty="0"/>
              <a:t>4ms</a:t>
            </a:r>
            <a:r>
              <a:rPr lang="zh-CN" altLang="en-US" sz="2400" dirty="0"/>
              <a:t>，实际代价大。</a:t>
            </a:r>
            <a:endParaRPr lang="en-US" altLang="zh-CN" sz="2400" dirty="0"/>
          </a:p>
        </p:txBody>
      </p:sp>
      <p:sp>
        <p:nvSpPr>
          <p:cNvPr id="15" name="内容占位符 2">
            <a:extLst>
              <a:ext uri="{FF2B5EF4-FFF2-40B4-BE49-F238E27FC236}">
                <a16:creationId xmlns:a16="http://schemas.microsoft.com/office/drawing/2014/main" id="{48A5535C-0EF3-6D1A-DD19-0CF4EAAB44D0}"/>
              </a:ext>
            </a:extLst>
          </p:cNvPr>
          <p:cNvSpPr txBox="1">
            <a:spLocks/>
          </p:cNvSpPr>
          <p:nvPr/>
        </p:nvSpPr>
        <p:spPr>
          <a:xfrm>
            <a:off x="465228" y="4373564"/>
            <a:ext cx="10781891" cy="21835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为什么失真没有转化到准确率？</a:t>
            </a:r>
            <a:endParaRPr lang="en-US" altLang="zh-CN" sz="2400" dirty="0"/>
          </a:p>
          <a:p>
            <a:r>
              <a:rPr lang="zh-CN" altLang="en-US" sz="2400" dirty="0"/>
              <a:t>模型不同等级的参数对训练影响不用，但是在失真</a:t>
            </a:r>
            <a:r>
              <a:rPr lang="en-US" altLang="zh-CN" sz="2400" dirty="0" err="1"/>
              <a:t>nmse</a:t>
            </a:r>
            <a:r>
              <a:rPr lang="zh-CN" altLang="en-US" sz="2400" dirty="0"/>
              <a:t>上是统一衡量的。</a:t>
            </a:r>
            <a:endParaRPr lang="en-US" altLang="zh-CN" sz="2400" dirty="0"/>
          </a:p>
          <a:p>
            <a:r>
              <a:rPr lang="zh-CN" altLang="en-US" sz="2400" dirty="0"/>
              <a:t>更新的误差对于预测类别影响太小，作用不到准确率上。</a:t>
            </a:r>
            <a:endParaRPr lang="en-US" altLang="zh-CN" sz="2400" dirty="0"/>
          </a:p>
          <a:p>
            <a:endParaRPr lang="en-US" altLang="zh-CN" dirty="0"/>
          </a:p>
        </p:txBody>
      </p:sp>
    </p:spTree>
    <p:extLst>
      <p:ext uri="{BB962C8B-B14F-4D97-AF65-F5344CB8AC3E}">
        <p14:creationId xmlns:p14="http://schemas.microsoft.com/office/powerpoint/2010/main" val="3573255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0B4DA5E-5494-E404-2027-B4D2267B41DB}"/>
              </a:ext>
            </a:extLst>
          </p:cNvPr>
          <p:cNvSpPr>
            <a:spLocks noGrp="1"/>
          </p:cNvSpPr>
          <p:nvPr>
            <p:ph idx="1"/>
          </p:nvPr>
        </p:nvSpPr>
        <p:spPr>
          <a:xfrm>
            <a:off x="366562" y="1133293"/>
            <a:ext cx="10515600" cy="1492341"/>
          </a:xfrm>
        </p:spPr>
        <p:txBody>
          <a:bodyPr>
            <a:noAutofit/>
          </a:bodyPr>
          <a:lstStyle/>
          <a:p>
            <a:pPr marL="0" indent="0">
              <a:buNone/>
            </a:pPr>
            <a:r>
              <a:rPr lang="en-US" altLang="zh-CN" sz="2400" dirty="0"/>
              <a:t>1.</a:t>
            </a:r>
            <a:r>
              <a:rPr lang="zh-CN" altLang="en-US" sz="2400" dirty="0"/>
              <a:t>在固定相同系数数量和</a:t>
            </a:r>
            <a:r>
              <a:rPr lang="en-US" altLang="zh-CN" sz="2400" dirty="0"/>
              <a:t>bit</a:t>
            </a:r>
            <a:r>
              <a:rPr lang="zh-CN" altLang="en-US" sz="2400" dirty="0"/>
              <a:t>的情况下，</a:t>
            </a:r>
            <a:r>
              <a:rPr lang="en-US" altLang="zh-CN" sz="2400" dirty="0"/>
              <a:t>Kashin</a:t>
            </a:r>
            <a:r>
              <a:rPr lang="zh-CN" altLang="en-US" sz="2400" dirty="0"/>
              <a:t>方法对比</a:t>
            </a:r>
            <a:r>
              <a:rPr lang="en-US" altLang="zh-CN" sz="2400" dirty="0" err="1"/>
              <a:t>srk</a:t>
            </a:r>
            <a:r>
              <a:rPr lang="zh-CN" altLang="en-US" sz="2400" dirty="0"/>
              <a:t>可以获得更低</a:t>
            </a:r>
            <a:r>
              <a:rPr lang="en-US" altLang="zh-CN" sz="2400" dirty="0"/>
              <a:t>NMSE</a:t>
            </a:r>
            <a:r>
              <a:rPr lang="zh-CN" altLang="en-US" sz="2400" dirty="0"/>
              <a:t>失真；</a:t>
            </a:r>
            <a:endParaRPr lang="en-US" altLang="zh-CN" sz="2400" dirty="0"/>
          </a:p>
          <a:p>
            <a:pPr marL="0" indent="0">
              <a:buNone/>
            </a:pPr>
            <a:r>
              <a:rPr lang="en-US" altLang="zh-CN" sz="2400" dirty="0"/>
              <a:t>2.</a:t>
            </a:r>
            <a:r>
              <a:rPr lang="zh-CN" altLang="en-US" sz="2400" dirty="0"/>
              <a:t>但是这种失真降低还没有稳定体现为训练准确率或者达到目标准确率所需通信量下降；</a:t>
            </a:r>
            <a:endParaRPr lang="en-US" altLang="zh-CN" sz="2400" dirty="0"/>
          </a:p>
          <a:p>
            <a:pPr marL="0" indent="0">
              <a:buNone/>
            </a:pPr>
            <a:r>
              <a:rPr lang="en-US" altLang="zh-CN" sz="2400" dirty="0"/>
              <a:t>3.</a:t>
            </a:r>
            <a:r>
              <a:rPr lang="zh-CN" altLang="en-US" sz="2400" dirty="0"/>
              <a:t>增大冗余度虽然可以进一步降低失真，但是通信开销也会上升，所以需要考虑整体预算权衡。</a:t>
            </a:r>
          </a:p>
        </p:txBody>
      </p:sp>
      <p:sp>
        <p:nvSpPr>
          <p:cNvPr id="4" name="标题 1">
            <a:extLst>
              <a:ext uri="{FF2B5EF4-FFF2-40B4-BE49-F238E27FC236}">
                <a16:creationId xmlns:a16="http://schemas.microsoft.com/office/drawing/2014/main" id="{82AEE6CD-3F60-D719-7314-8FA63248E44B}"/>
              </a:ext>
            </a:extLst>
          </p:cNvPr>
          <p:cNvSpPr>
            <a:spLocks noGrp="1"/>
          </p:cNvSpPr>
          <p:nvPr>
            <p:ph type="title"/>
          </p:nvPr>
        </p:nvSpPr>
        <p:spPr>
          <a:xfrm>
            <a:off x="366562" y="230372"/>
            <a:ext cx="5533724" cy="616652"/>
          </a:xfrm>
        </p:spPr>
        <p:txBody>
          <a:bodyPr>
            <a:normAutofit/>
          </a:bodyPr>
          <a:lstStyle/>
          <a:p>
            <a:r>
              <a:rPr lang="en-US" altLang="zh-CN" sz="3200" b="1" dirty="0">
                <a:latin typeface="等线" panose="02010600030101010101" pitchFamily="2" charset="-122"/>
                <a:ea typeface="等线" panose="02010600030101010101" pitchFamily="2" charset="-122"/>
              </a:rPr>
              <a:t>·</a:t>
            </a:r>
            <a:r>
              <a:rPr lang="zh-CN" altLang="en-US" sz="3200" b="1" dirty="0">
                <a:latin typeface="等线" panose="02010600030101010101" pitchFamily="2" charset="-122"/>
                <a:ea typeface="等线" panose="02010600030101010101" pitchFamily="2" charset="-122"/>
              </a:rPr>
              <a:t>阶段总结</a:t>
            </a:r>
          </a:p>
        </p:txBody>
      </p:sp>
      <p:sp>
        <p:nvSpPr>
          <p:cNvPr id="7" name="内容占位符 2">
            <a:extLst>
              <a:ext uri="{FF2B5EF4-FFF2-40B4-BE49-F238E27FC236}">
                <a16:creationId xmlns:a16="http://schemas.microsoft.com/office/drawing/2014/main" id="{1D98C6D4-CB89-A847-EE4A-B029D212AE50}"/>
              </a:ext>
            </a:extLst>
          </p:cNvPr>
          <p:cNvSpPr txBox="1">
            <a:spLocks/>
          </p:cNvSpPr>
          <p:nvPr/>
        </p:nvSpPr>
        <p:spPr>
          <a:xfrm>
            <a:off x="366562" y="3728447"/>
            <a:ext cx="10515600" cy="14923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2400" dirty="0"/>
              <a:t>下一步尝试</a:t>
            </a:r>
            <a:r>
              <a:rPr lang="en-US" altLang="zh-CN" sz="2400" dirty="0" err="1"/>
              <a:t>nmse</a:t>
            </a:r>
            <a:r>
              <a:rPr lang="zh-CN" altLang="en-US" sz="2400" dirty="0"/>
              <a:t>如何作用到训练收益，稳定训练准确率的提升之后再考虑通信与准确率的权衡。</a:t>
            </a:r>
          </a:p>
        </p:txBody>
      </p:sp>
    </p:spTree>
    <p:extLst>
      <p:ext uri="{BB962C8B-B14F-4D97-AF65-F5344CB8AC3E}">
        <p14:creationId xmlns:p14="http://schemas.microsoft.com/office/powerpoint/2010/main" val="352367443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7340</TotalTime>
  <Words>690</Words>
  <Application>Microsoft Office PowerPoint</Application>
  <PresentationFormat>宽屏</PresentationFormat>
  <Paragraphs>34</Paragraphs>
  <Slides>5</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vt:i4>
      </vt:variant>
    </vt:vector>
  </HeadingPairs>
  <TitlesOfParts>
    <vt:vector size="10" baseType="lpstr">
      <vt:lpstr>Timess New Roman</vt:lpstr>
      <vt:lpstr>等线</vt:lpstr>
      <vt:lpstr>等线 Light</vt:lpstr>
      <vt:lpstr>Arial</vt:lpstr>
      <vt:lpstr>Office 主题​​</vt:lpstr>
      <vt:lpstr>因为多种压缩量化方法在准确率上没有很好的体现出规律，为了将压缩误差和训练过程中的其他因素分开，可以固定同样真实客户端更新，分别进行srk和kashin方法的压缩，比较服务器解码、聚合后的 NMSE。NMSE 用来评价参数更新的质量，而最终是否作用到改善准确率或减少训练的通信量，需要另外验证。</vt:lpstr>
      <vt:lpstr>·失真对比实验</vt:lpstr>
      <vt:lpstr>·不同λ取值与srk的误差对比</vt:lpstr>
      <vt:lpstr>·失真优势是否转化为训练收益</vt:lpstr>
      <vt:lpstr>·阶段总结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Haocheng Zhang</dc:creator>
  <cp:lastModifiedBy>Haocheng Zhang</cp:lastModifiedBy>
  <cp:revision>4</cp:revision>
  <dcterms:created xsi:type="dcterms:W3CDTF">2026-09-18T06:45:36Z</dcterms:created>
  <dcterms:modified xsi:type="dcterms:W3CDTF">2026-09-23T09:08:58Z</dcterms:modified>
</cp:coreProperties>
</file>