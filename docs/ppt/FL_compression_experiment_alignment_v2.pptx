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5d99c0826e4bff" /><Relationship Type="http://schemas.openxmlformats.org/officeDocument/2006/relationships/extended-properties" Target="/docProps/app.xml" Id="R81d7e544cf914747" /><Relationship Type="http://schemas.openxmlformats.org/officeDocument/2006/relationships/officeDocument" Target="/ppt/presentation.xml" Id="Re63be2c3fc7f42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18624fdea249ba"/>
  </p:sldMasterIdLst>
  <p:notesMasterIdLst>
    <p:notesMasterId xmlns:r="http://schemas.openxmlformats.org/officeDocument/2006/relationships" r:id="Rc40cb90da5e54b97"/>
  </p:notesMasterIdLst>
  <p:sldIdLst>
    <p:sldId xmlns:r="http://schemas.openxmlformats.org/officeDocument/2006/relationships" id="256" r:id="R5f013cfeab6e440b"/>
    <p:sldId xmlns:r="http://schemas.openxmlformats.org/officeDocument/2006/relationships" id="257" r:id="R786008ce7b344e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1c53db122d40ee" /><Relationship Type="http://schemas.openxmlformats.org/officeDocument/2006/relationships/slideMaster" Target="/ppt/slideMasters/slideMaster1.xml" Id="R9118624fdea249ba" /><Relationship Type="http://schemas.openxmlformats.org/officeDocument/2006/relationships/notesMaster" Target="/ppt/notesMasters/notesMaster1.xml" Id="Rc40cb90da5e54b97" /><Relationship Type="http://schemas.openxmlformats.org/officeDocument/2006/relationships/presProps" Target="/ppt/presProps.xml" Id="R07ab7921fd7545d6" /><Relationship Type="http://schemas.openxmlformats.org/officeDocument/2006/relationships/tableStyles" Target="/ppt/tableStyles.xml" Id="R064771fe01e54443" /><Relationship Type="http://schemas.openxmlformats.org/officeDocument/2006/relationships/slide" Target="/ppt/slides/slide1.xml" Id="R5f013cfeab6e440b" /><Relationship Type="http://schemas.openxmlformats.org/officeDocument/2006/relationships/slide" Target="/ppt/slides/slide2.xml" Id="R786008ce7b344e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c94c2b2fea48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dcb18060f241f7" /><Relationship Type="http://schemas.openxmlformats.org/officeDocument/2006/relationships/notesMaster" Target="/ppt/notesMasters/notesMaster1.xml" Id="Ra8222d2bf1994d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fa76aa176a402e" /><Relationship Type="http://schemas.openxmlformats.org/officeDocument/2006/relationships/notesMaster" Target="/ppt/notesMasters/notesMaster1.xml" Id="R465b77ff1b7d49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依据：D:\FL\experiments\exp0_simple1bit_compare.py、D:\FL\experiments\exp1_1bit_2bit_noscale_compare.py、D:\FL\compression\srk.py、D:\FL\compression\kashin_frame.py。流程是对仓库当前实现的归纳。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依据：D:\FL\experiments\exp0_simple1bit_compare.py；D:\FL\experiments\exp1_1bit_2bit_noscale_compare.py；D:\FL\compression\srk.py；D:\FL\compression\kashin_frame.py；D:\FL\compression\kashin_solver.py。说明：Hadamard 的 exp1 seed 固定，exp0 seed 随轮次变化；Kashin frame 在 exp1 中使用 Fourier 紧框架，不是 FWHT。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3f8e6a5c24b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ac879d37cc45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ea2b3115d4e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1560061cb43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e6d4cc78a46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f167a3c524e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A6B185-04F6-4A7A-951B-98628F066F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EC2BC50-8315-48EF-8C0D-B487685F5D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7CE9F7-AA42-4384-AC08-63BD1BB665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898551-3AA8-4A48-BE9B-8D56914150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9C8581-123D-4A93-B606-C64751AA3F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259CD6-0DE8-4676-82B0-BFF54F4F6D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6C987F-4EBE-4B2B-959C-93EC59CB89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94C7F7-ADFA-45CA-8032-64A975BFE3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9BAAE5-9BF2-4354-859F-35F1175117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00B75E-68D7-44DA-AD45-7C6B82C2CA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98ec4a34bc40b7" /><Relationship Type="http://schemas.openxmlformats.org/officeDocument/2006/relationships/slideLayout" Target="/ppt/slideLayouts/slideLayout1.xml" Id="Rdf4bde0f11c548e8" /><Relationship Type="http://schemas.openxmlformats.org/officeDocument/2006/relationships/slideLayout" Target="/ppt/slideLayouts/slideLayout2.xml" Id="R8297e4b563b34fed" /><Relationship Type="http://schemas.openxmlformats.org/officeDocument/2006/relationships/slideLayout" Target="/ppt/slideLayouts/slideLayout3.xml" Id="Rc5b295363daf4823" /><Relationship Type="http://schemas.openxmlformats.org/officeDocument/2006/relationships/slideLayout" Target="/ppt/slideLayouts/slideLayout4.xml" Id="R1ed512dfbe204374" /><Relationship Type="http://schemas.openxmlformats.org/officeDocument/2006/relationships/slideLayout" Target="/ppt/slideLayouts/slideLayout5.xml" Id="Rf2acc6555e454927" /><Relationship Type="http://schemas.openxmlformats.org/officeDocument/2006/relationships/slideLayout" Target="/ppt/slideLayouts/slideLayout6.xml" Id="R1af710437b5741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4bde0f11c548e8"/>
    <p:sldLayoutId xmlns:r="http://schemas.openxmlformats.org/officeDocument/2006/relationships" id="2147483650" r:id="R8297e4b563b34fed"/>
    <p:sldLayoutId xmlns:r="http://schemas.openxmlformats.org/officeDocument/2006/relationships" id="2147483651" r:id="Rc5b295363daf4823"/>
    <p:sldLayoutId xmlns:r="http://schemas.openxmlformats.org/officeDocument/2006/relationships" id="2147483652" r:id="R1ed512dfbe204374"/>
    <p:sldLayoutId xmlns:r="http://schemas.openxmlformats.org/officeDocument/2006/relationships" id="2147483653" r:id="Rf2acc6555e454927"/>
    <p:sldLayoutId xmlns:r="http://schemas.openxmlformats.org/officeDocument/2006/relationships" id="2147483654" r:id="R1af710437b5741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a2026625014ac5" /><Relationship Type="http://schemas.openxmlformats.org/officeDocument/2006/relationships/notesSlide" Target="/ppt/notesSlides/notesSlide1.xml" Id="R575f3b5827c047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557d16f7d04cfd" /><Relationship Type="http://schemas.openxmlformats.org/officeDocument/2006/relationships/notesSlide" Target="/ppt/notesSlides/notesSlide2.xml" Id="R4e108c7f2f7244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4E8822-5650-4DB5-BD5F-D17D4820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压缩实验的端到端流程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474D9-0E15-4688-A734-71196E44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rPr>
              <a:t>把客户端压缩器与联邦聚合/更新分开看：六个环节可对齐，具体算法只替换其中几步。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A6956-3060-4AF7-A8CD-325ECA56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73015-C68F-4B26-AD0F-C7B11601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381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6B9E5-E8BC-4F51-B7C5-2DA7B7A1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2CBAC-C966-4C4E-80F9-A9DE07F3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868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2868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8A6"/>
                </a:solidFill>
                <a:latin typeface="Arial"/>
                <a:ea typeface="Arial"/>
                <a:cs typeface="Arial"/>
              </a:rPr>
              <a:t>01–02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9DF3E-A5F0-466F-BBB5-8145EF4D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客户端输入与表示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F1699-2D41-414F-8F84-3DB26F73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D5D97-58B3-4ACA-9A2C-2C1F2AB2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2000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本地更新  Δ = w_local − w_t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Raw：原空间</a:t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Hadamard：随机符号掩码 + FWHT</a:t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Kashin：Fourier 紧框架系数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DDA3A-F5EE-4AB9-9B88-87F91E0D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2381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762EE-251D-4318-8768-187FAD6A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1C8593-C5EF-4791-BC03-F3BFB8E6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68A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68A8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8A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F055A-F24D-4E15-B62A-40BCACE4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95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编码与量化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80696-3ECA-4482-9A1A-4D6BA042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62275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F8E77F-59B5-411F-8B89-74D4EF1C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14675"/>
            <a:ext cx="2000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1-bit：符号编码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2/3-bit：固定 clip 区间内随机舍入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exp1 的 clip 由首轮 p99.5 标定，后续固定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A20EE-548E-45DA-BBC3-BAB3F46E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2381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2F99E-2881-40C5-B4B1-AD9A3C2A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57938-2C1C-45A5-9BEB-B8DAD72C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76A2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76A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6A2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3E683-C2F3-4C88-8DCB-9FA6F04E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信道负载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5BF9F4-4FCB-44F3-A77F-17BD00BE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62275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AA480-A93C-4EB6-9E8F-8821CA4E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4675"/>
            <a:ext cx="2000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Raw：d × 32-bit 浮点数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压缩向量：d × b 或 D × b 位索引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seed 预先约定；不逐轮发送动态 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461C6-E9E8-4E7F-9D11-BA94E553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43100"/>
            <a:ext cx="2381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C3F91A-82C7-4E2C-BF95-B633AA64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431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43A161-AAB6-47DA-92E6-27EF698A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156A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7156A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156A5"/>
                </a:solidFill>
                <a:latin typeface="Arial"/>
                <a:ea typeface="Arial"/>
                <a:cs typeface="Arial"/>
              </a:rPr>
              <a:t>05–06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DD0DC9-C055-4362-9131-384F30F4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服务器解码与更新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409F86-1048-4FDE-B58C-8BB95F3E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62275"/>
            <a:ext cx="200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1212A-37E3-443A-BE7E-CEFD2645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14675"/>
            <a:ext cx="2000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查表还原量化值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Hadamard：逆 FWHT 并裁回 d 维</a:t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Kashin：框架合成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w_{t+1} = w_t + Δ̂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6C06B-489E-467C-A0CB-035A4DCE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48025"/>
            <a:ext cx="228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B83247-002C-468F-9490-E65D3131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48025"/>
            <a:ext cx="228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CEA7EF-ED4B-47CC-96EC-B89E84C2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48025"/>
            <a:ext cx="228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58482B-B113-4DB5-91C4-41B5F432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F86648-A646-482A-9F2B-AA64A54F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868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86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68A6"/>
                </a:solidFill>
                <a:latin typeface="Microsoft YaHei"/>
                <a:ea typeface="Microsoft YaHei"/>
                <a:cs typeface="Microsoft YaHei"/>
              </a:rPr>
              <a:t>层级边界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22BB7D-93A3-4425-8758-9056C502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29250"/>
            <a:ext cx="938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FedAvg 规定本地训练后的聚合与模型更新；SignSGD、Hadamard、Kashin 描述更新如何编码/传输。它们可以组合，不能当作同一层的互斥算法。</a:t>
            </a:r>
          </a:p>
        </p:txBody>
      </p:sp>
    </p:spTree>
    <p:extLst>
      <p:ext uri="{BB962C8B-B14F-4D97-AF65-F5344CB8AC3E}">
        <p14:creationId xmlns:p14="http://schemas.microsoft.com/office/powerpoint/2010/main" val="1769644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FF844-73D0-4E14-BBB1-18357305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实验方法与通信协议对齐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E2637-A1A9-4C7B-9A86-8010E70F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620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176"/>
                </a:solidFill>
                <a:latin typeface="Microsoft YaHei"/>
                <a:ea typeface="Microsoft YaHei"/>
                <a:cs typeface="Microsoft YaHei"/>
              </a:rPr>
              <a:t>按“表示变换 → 量化 → 负载/缩放 → 解码/更新”比较；配置取自当前 exp0、exp1 代码。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CD0B1-0F44-48A8-BB0E-A333B821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FEA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EADA5-B58E-4B06-BF3A-A5659DD862F5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057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95450"/>
                <a:gridCol w="2857500"/>
                <a:gridCol w="3143250"/>
                <a:gridCol w="3276600"/>
              </a:tblGrid>
              <a:tr h="4572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方法族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 1–2｜输入与表示变换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 3｜编码与量化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200" b="1">
                          <a:solidFill>
                            <a:srgbClr val="2738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 4–6｜负载、解码与更新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T w="9525">
                      <a:solidFill>
                        <a:srgbClr val="D7DFEA"/>
                      </a:solidFill>
                      <a:prstDash val="solid"/>
                    </a:lnT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E4EBF4"/>
                    </a:solidFill>
                  </a:tcPr>
                </a:tc>
              </a:tr>
              <a:tr h="7239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FedAvg</a:t>
                      </a:r>
                    </a:p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未压缩参考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更新 Δ ∈ Rᵈ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无掩码、无变换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不量化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 FP32 浮点数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32d bit/客户端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样本量加权聚合，再更新全局模型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Raw / SignSGD</a:t>
                      </a:r>
                    </a:p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2 / 3-bit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原空间 Δ ∈ Rᵈ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无旋转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1-bit：确定性 sign × 固定 clip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2/3-bit：固定区间随机舍入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× b 位索引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不传动态 Scale；还原值直接作为更新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  <a:tr h="11049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Hadamard</a:t>
                      </a:r>
                    </a:p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2 / 3-bit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补零至 D=2^⌈log₂d⌉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R=HDₛ：随机符号掩码 + 归一化 FWHT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exp1 固定 seed；exp0 每轮换 seed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exp1：1-bit sign × 固定 clip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2/3-bit 固定区间随机舍入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× b 位索引；seed 预先共享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逆 FWHT、裁回 d 维后更新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Kashin</a:t>
                      </a:r>
                    </a:p>
                    <a:p>
                      <a:r>
                        <a:rPr sz="1163" b="1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λ = 1.15 / 1.3 / 1.6 / 2.0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7DFEA"/>
                      </a:solidFill>
                      <a:prstDash val="solid"/>
                    </a:lnL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Fourier 紧框架，D≈λd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迭代求 Kashin 系数（exp1 为 25 次）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1-bit sign × 固定 clip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2/3-bit 固定区间随机舍入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 × b 位索引；不传动态 Scale</a:t>
                      </a:r>
                    </a:p>
                    <a:p>
                      <a:r>
                        <a:rPr sz="1163" b="0">
                          <a:solidFill>
                            <a:srgbClr val="1823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框架合成还原后更新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7DFEA"/>
                      </a:solidFill>
                      <a:prstDash val="solid"/>
                    </a:lnR>
                    <a:lnB w="9525">
                      <a:solidFill>
                        <a:srgbClr val="D7DFEA"/>
                      </a:solidFill>
                      <a:prstDash val="solid"/>
                    </a:lnB>
                    <a:solidFill>
                      <a:srgbClr val="F0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FC1E1-2E15-4765-AF46-7B0CCA14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728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9A1AC-5A86-4D7E-BE49-C3F327BD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912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B76A2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76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6A25"/>
                </a:solidFill>
                <a:latin typeface="Microsoft YaHei"/>
                <a:ea typeface="Microsoft YaHei"/>
                <a:cs typeface="Microsoft YaHei"/>
              </a:rPr>
              <a:t>实现差异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2DA549-9CD1-478F-AF7C-02D97B7E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43600"/>
            <a:ext cx="960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82335"/>
                </a:solidFill>
                <a:latin typeface="Microsoft YaHei"/>
                <a:ea typeface="Microsoft YaHei"/>
                <a:cs typeface="Microsoft YaHei"/>
              </a:rPr>
              <a:t>FedAvg 行作未压缩/聚合参照；当前 exp0/exp1 每轮实际为单客户端更新。exp0 另有逆变换后取 sign；exp1 clip 首轮 p99.5 标定后固定。位数为索引负载估算，不含协议头。</a:t>
            </a:r>
          </a:p>
        </p:txBody>
      </p:sp>
    </p:spTree>
    <p:extLst>
      <p:ext uri="{BB962C8B-B14F-4D97-AF65-F5344CB8AC3E}">
        <p14:creationId xmlns:p14="http://schemas.microsoft.com/office/powerpoint/2010/main" val="824672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2026-10-19T14:02:44.4060000Z</dcterms:created>
  <dcterms:modified xsi:type="dcterms:W3CDTF">2026-10-19T14:02:44.4070000Z</dcterms:modified>
</coreProperties>
</file>