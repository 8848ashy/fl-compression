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9" r:id="rId5"/>
    <p:sldId id="258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DF4086-3E07-80EA-5C6E-2028A83249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421B2D4-5514-6328-0E85-F866C79328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822DA9-C530-1594-E408-5C7B93794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6676-76F4-4503-A844-49C0AF5CC4FA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23B8F4-BF98-25EB-D186-E8D5D5A55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99014A-8834-B8AE-09A6-29FD997B2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EE2EC-2F15-4CD1-BE98-2220A481E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1870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7C6D3E-B710-B264-9D26-AE79CBD85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93587D-04CE-3FE3-BFF1-316B673E8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8D1116-9573-50EB-E81F-DFE1D1BAD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6676-76F4-4503-A844-49C0AF5CC4FA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FA3085-AA93-7211-1964-9952D5E32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3689BE-C580-1C23-A196-309F339D0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EE2EC-2F15-4CD1-BE98-2220A481E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604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56D8D5-DC87-F6FD-1950-3F8E4C63A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240E32-858F-3F14-7D33-55CC0E81F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BA4714-E2B1-08CA-C872-1566C5FED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6676-76F4-4503-A844-49C0AF5CC4FA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6B2CE8-5019-58D3-248C-315F08BC6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9473E8-3A0A-2839-DAE1-EC1253192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EE2EC-2F15-4CD1-BE98-2220A481E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0326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41A311-3378-E1A0-12D3-97B1FE52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B996E7-79FF-8195-61D2-BB7441CAFE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A97428-2C55-C514-2FBD-58830174B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876A32-C715-7E97-C77A-0B8A903F1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6676-76F4-4503-A844-49C0AF5CC4FA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AD9DBC-F09F-6D16-7746-446DCC926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E1BE31-CBB7-D0A5-FC06-223CC968C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EE2EC-2F15-4CD1-BE98-2220A481E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0622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8CFC99-2DBC-B5BB-6C26-AA000F65E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326740-61EE-2C3C-77FB-2B5042D25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4CD13A-003D-4693-48EA-5FFE16C40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8545277-86AF-5B14-08B9-9EEE8116A1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B04E552-D204-0AFE-740E-4A61EA7AB4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C52D8C9-013C-5385-C7CE-FE0C83DFA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6676-76F4-4503-A844-49C0AF5CC4FA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2EFA910-5F89-3AE8-129A-E5FF0057B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6E10FA0-2A1F-B8EE-800A-5860E0BE6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EE2EC-2F15-4CD1-BE98-2220A481E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375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B33CC5-2F3F-FC90-05E8-A3D507791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AD7F705-A841-0ACE-7AB9-451C8660C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6676-76F4-4503-A844-49C0AF5CC4FA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08556EE-1B11-3AAD-4827-E4A7CFA06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86A25AA-CE4E-2A07-0232-FF4CCCAF7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EE2EC-2F15-4CD1-BE98-2220A481E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039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B7AF5C6-EB78-DB0E-7667-E962A0C7E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6676-76F4-4503-A844-49C0AF5CC4FA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FB9CD67-532A-C3E5-9A18-D5DCB5E86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73538B-67A6-D810-A7B7-92681562A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EE2EC-2F15-4CD1-BE98-2220A481E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3926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620B74-D4B1-88C6-7750-D6E76FAD8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AC9202-F5AE-DBC2-3F3A-7DB5547AB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556455-2A2C-AC75-7B57-A09817205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DF4912-3371-7573-F688-9F242DD61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6676-76F4-4503-A844-49C0AF5CC4FA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4F374A-8324-84F4-D9F9-3237D3E13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B173DE-9658-6790-7946-803944A0A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EE2EC-2F15-4CD1-BE98-2220A481E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835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39C654-9E96-2272-443D-5B2137215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B29F26C-5E73-26A7-B00C-634598F97E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5CD578-3F14-75A7-F7D9-DE800FFCF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16F9CF-F899-4F24-AB51-BA6769220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6676-76F4-4503-A844-49C0AF5CC4FA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68D430-148C-9286-D96F-0D9A3BE95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4BED9D-3B40-2341-189E-7F7F62D16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EE2EC-2F15-4CD1-BE98-2220A481E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587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B6AFBB-D4F5-BFB9-3FAF-00B4ED971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D571E0-C45B-15C3-28AD-A2E20A180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86558A-97A3-951B-A61E-AAA82041B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6676-76F4-4503-A844-49C0AF5CC4FA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71CC37-2A8F-E4D3-4A38-77F5EA1BB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AF4A20-F24A-0B5F-8C5F-4F7C5AD89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EE2EC-2F15-4CD1-BE98-2220A481E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3839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3E98BB1-D2BA-A1AD-05DD-D27BC7F579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BD026C-F767-713C-B6A9-411738988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21BD90-4A66-6F17-84AA-2A558366A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6676-76F4-4503-A844-49C0AF5CC4FA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74C066-34CC-DF66-491E-25BBEB2B3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DAFE36-6D19-1358-F9D3-768139914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EE2EC-2F15-4CD1-BE98-2220A481E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629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4DF3C47-F3D7-591A-9D32-81DC515FD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72BB60-4A2D-8276-6EB0-17F9EB581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32D30D-7AC9-56C5-8D66-6FE2AA5D4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606676-76F4-4503-A844-49C0AF5CC4FA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F681F1-1C5A-D53F-FB8F-69A229DC5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1BE20F-E6CE-DDF8-5F18-E86D50880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DEE2EC-2F15-4CD1-BE98-2220A481E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837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98E116-BE86-CB2E-307D-7F313B048E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451" y="601367"/>
            <a:ext cx="11919098" cy="2387600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Kashin</a:t>
            </a:r>
            <a:r>
              <a:rPr lang="zh-CN" altLang="en-US" sz="4000" dirty="0"/>
              <a:t>压缩方法对比</a:t>
            </a:r>
            <a:r>
              <a:rPr lang="en-US" altLang="zh-CN" sz="4000" dirty="0" err="1"/>
              <a:t>srk</a:t>
            </a:r>
            <a:r>
              <a:rPr lang="zh-CN" altLang="en-US" sz="4000" dirty="0"/>
              <a:t>随机旋转量化方法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E4706AD-3347-76B3-FCA7-D9B3C18DA9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4175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FAF84C-83BD-ADBD-0F76-F0AFCC3B5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联邦学习设置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800F14-7814-CA72-DF09-21A1F1017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zh-CN" dirty="0"/>
              <a:t>数据集</a:t>
            </a:r>
            <a:r>
              <a:rPr lang="zh-CN" altLang="en-US" dirty="0"/>
              <a:t>：</a:t>
            </a:r>
            <a:r>
              <a:rPr lang="zh-CN" altLang="zh-CN" dirty="0"/>
              <a:t>MNIST 手写数字分类任务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模型</a:t>
            </a:r>
            <a:r>
              <a:rPr lang="zh-CN" altLang="en-US" dirty="0"/>
              <a:t>：</a:t>
            </a:r>
            <a:r>
              <a:rPr lang="zh-CN" altLang="zh-CN" dirty="0"/>
              <a:t>多层感知机</a:t>
            </a:r>
            <a:r>
              <a:rPr lang="en-US" altLang="zh-CN" dirty="0"/>
              <a:t> </a:t>
            </a:r>
            <a:r>
              <a:rPr lang="zh-CN" altLang="zh-CN" dirty="0"/>
              <a:t>MLP</a:t>
            </a:r>
          </a:p>
          <a:p>
            <a:pPr marL="0" indent="0">
              <a:buNone/>
            </a:pPr>
            <a:r>
              <a:rPr lang="zh-CN" altLang="zh-CN" dirty="0"/>
              <a:t>参数更新维度：d=50,89</a:t>
            </a:r>
            <a:r>
              <a:rPr lang="en-US" altLang="zh-CN" dirty="0"/>
              <a:t>0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传统联邦学习</a:t>
            </a:r>
            <a:r>
              <a:rPr lang="zh-CN" altLang="en-US" dirty="0"/>
              <a:t>每个参数更新用</a:t>
            </a:r>
            <a:r>
              <a:rPr lang="en-US" altLang="zh-CN" dirty="0"/>
              <a:t>32</a:t>
            </a:r>
            <a:r>
              <a:rPr lang="zh-CN" altLang="en-US" dirty="0"/>
              <a:t>位浮点数</a:t>
            </a:r>
          </a:p>
        </p:txBody>
      </p:sp>
    </p:spTree>
    <p:extLst>
      <p:ext uri="{BB962C8B-B14F-4D97-AF65-F5344CB8AC3E}">
        <p14:creationId xmlns:p14="http://schemas.microsoft.com/office/powerpoint/2010/main" val="88871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837BE-4BE8-8787-1DEE-4524BF12A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1.SRK</a:t>
            </a:r>
            <a:r>
              <a:rPr lang="zh-CN" altLang="en-US" sz="2800" dirty="0"/>
              <a:t>随机旋转量化细节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1FD9F8-95CA-0205-F328-BC3CFA83C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原始</a:t>
            </a:r>
            <a:r>
              <a:rPr lang="en-US" altLang="zh-CN" dirty="0"/>
              <a:t>d=50890</a:t>
            </a:r>
            <a:r>
              <a:rPr lang="zh-CN" altLang="en-US" dirty="0"/>
              <a:t>，</a:t>
            </a:r>
            <a:r>
              <a:rPr lang="en-US" altLang="zh-CN" dirty="0" err="1"/>
              <a:t>srk</a:t>
            </a:r>
            <a:r>
              <a:rPr lang="zh-CN" altLang="en-US" dirty="0"/>
              <a:t>通过</a:t>
            </a:r>
            <a:r>
              <a:rPr lang="zh-CN" altLang="zh-CN" dirty="0"/>
              <a:t>快速Walsh-Hadamard Transform（FWHT）</a:t>
            </a:r>
            <a:r>
              <a:rPr lang="zh-CN" altLang="en-US" dirty="0"/>
              <a:t>将扩展维度设为</a:t>
            </a:r>
            <a:r>
              <a:rPr lang="en-US" altLang="zh-CN" dirty="0"/>
              <a:t>D=65535</a:t>
            </a:r>
            <a:r>
              <a:rPr lang="zh-CN" altLang="en-US" dirty="0"/>
              <a:t>。因为</a:t>
            </a:r>
            <a:r>
              <a:rPr lang="en-US" altLang="zh-CN" dirty="0" err="1"/>
              <a:t>hahamard</a:t>
            </a:r>
            <a:r>
              <a:rPr lang="zh-CN" altLang="en-US" dirty="0"/>
              <a:t>变换要求扩展矩阵为</a:t>
            </a:r>
            <a:r>
              <a:rPr lang="en-US" altLang="zh-CN" dirty="0"/>
              <a:t>2</a:t>
            </a:r>
            <a:r>
              <a:rPr lang="zh-CN" altLang="en-US" dirty="0"/>
              <a:t>的幂。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随后采用均匀量化将元素进行</a:t>
            </a:r>
            <a:r>
              <a:rPr lang="en-US" altLang="zh-CN" dirty="0"/>
              <a:t>k</a:t>
            </a:r>
            <a:r>
              <a:rPr lang="zh-CN" altLang="en-US" dirty="0"/>
              <a:t>级表示。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在</a:t>
            </a:r>
            <a:r>
              <a:rPr lang="en-US" altLang="zh-CN" dirty="0"/>
              <a:t>4</a:t>
            </a:r>
            <a:r>
              <a:rPr lang="zh-CN" altLang="en-US" dirty="0"/>
              <a:t>级量化下，</a:t>
            </a:r>
            <a:r>
              <a:rPr lang="zh-CN" altLang="zh-CN" dirty="0"/>
              <a:t>每个客户端每个原始参数维度累计发送 bit</a:t>
            </a:r>
            <a:r>
              <a:rPr lang="zh-CN" altLang="en-US" dirty="0"/>
              <a:t>数为 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</a:t>
            </a:r>
          </a:p>
          <a:p>
            <a:pPr marL="0" indent="0">
              <a:buNone/>
            </a:pPr>
            <a:r>
              <a:rPr lang="en-US" altLang="zh-CN" dirty="0"/>
              <a:t>                                          =2.57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1E9B248-EC25-64B6-1E26-0CCA240A7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782" y="4001294"/>
            <a:ext cx="2915057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864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B8ECB-CDCE-C993-B18F-0DFBDA23A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5EA951-1043-5ADC-EE82-23395D0DA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1.Kashin transform</a:t>
            </a:r>
            <a:r>
              <a:rPr lang="zh-CN" altLang="en-US" sz="2800" dirty="0"/>
              <a:t>细节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608CF4-1DC7-7E1C-7C91-4E20F2102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800" dirty="0"/>
              <a:t>参考</a:t>
            </a:r>
            <a:r>
              <a:rPr lang="en-US" altLang="zh-CN" sz="1800" dirty="0"/>
              <a:t>Uncertainty Principle for Communication Compression in Distributed and Federated Learning and the Search for an Optimal Compressor</a:t>
            </a:r>
          </a:p>
          <a:p>
            <a:pPr marL="0" indent="0">
              <a:buNone/>
            </a:pPr>
            <a:r>
              <a:rPr lang="zh-CN" altLang="en-US" sz="1800" dirty="0"/>
              <a:t>利用</a:t>
            </a:r>
            <a:r>
              <a:rPr lang="en-US" altLang="zh-CN" sz="1800" dirty="0" err="1"/>
              <a:t>fourier</a:t>
            </a:r>
            <a:r>
              <a:rPr lang="en-US" altLang="zh-CN" sz="1800" dirty="0"/>
              <a:t> frame</a:t>
            </a:r>
            <a:r>
              <a:rPr lang="zh-CN" altLang="en-US" sz="1800" dirty="0"/>
              <a:t>构造扩展维度，可以使用</a:t>
            </a:r>
            <a:r>
              <a:rPr lang="en-US" altLang="zh-CN" sz="1800" dirty="0" err="1"/>
              <a:t>fft</a:t>
            </a:r>
            <a:r>
              <a:rPr lang="zh-CN" altLang="en-US" sz="1800" dirty="0"/>
              <a:t>计算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仍然采用均匀量化将元素进行</a:t>
            </a:r>
            <a:r>
              <a:rPr lang="en-US" altLang="zh-CN" sz="1800" dirty="0"/>
              <a:t>k</a:t>
            </a:r>
            <a:r>
              <a:rPr lang="zh-CN" altLang="en-US" sz="1800" dirty="0"/>
              <a:t>级表示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Lambda</a:t>
            </a:r>
            <a:r>
              <a:rPr lang="zh-CN" altLang="en-US" sz="1800" dirty="0"/>
              <a:t>参数控制扩展维度大小，</a:t>
            </a:r>
            <a:r>
              <a:rPr lang="en-US" altLang="zh-CN" sz="1800" dirty="0"/>
              <a:t>D=λ*d</a:t>
            </a:r>
            <a:r>
              <a:rPr lang="zh-CN" altLang="en-US" sz="1800" dirty="0"/>
              <a:t>，</a:t>
            </a:r>
            <a:r>
              <a:rPr lang="en-US" altLang="zh-CN" sz="1800" dirty="0"/>
              <a:t>d=50890</a:t>
            </a:r>
            <a:r>
              <a:rPr lang="zh-CN" altLang="en-US" sz="1800" dirty="0"/>
              <a:t>；例如</a:t>
            </a:r>
            <a:r>
              <a:rPr lang="en-US" altLang="zh-CN" sz="1800" dirty="0"/>
              <a:t>lam=2</a:t>
            </a:r>
            <a:r>
              <a:rPr lang="zh-CN" altLang="en-US" sz="1800" dirty="0"/>
              <a:t>，</a:t>
            </a:r>
            <a:r>
              <a:rPr lang="en-US" altLang="zh-CN" sz="1800" dirty="0"/>
              <a:t>D=2*50890=101780</a:t>
            </a:r>
            <a:r>
              <a:rPr lang="zh-CN" altLang="en-US" sz="1800" dirty="0"/>
              <a:t>，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若使用四级量化，则</a:t>
            </a:r>
            <a:r>
              <a:rPr lang="zh-CN" altLang="zh-CN" sz="1800" dirty="0"/>
              <a:t>每个客户端每个原始参数维度累计发送 bit</a:t>
            </a:r>
            <a:r>
              <a:rPr lang="zh-CN" altLang="en-US" sz="1800" dirty="0"/>
              <a:t>数为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   </a:t>
            </a:r>
          </a:p>
          <a:p>
            <a:pPr marL="0" indent="0">
              <a:buNone/>
            </a:pPr>
            <a:r>
              <a:rPr lang="en-US" altLang="zh-CN" sz="1800" dirty="0"/>
              <a:t>                                             =4</a:t>
            </a:r>
          </a:p>
          <a:p>
            <a:pPr marL="0" indent="0">
              <a:buNone/>
            </a:pPr>
            <a:endParaRPr lang="zh-CN" altLang="en-US" sz="1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92FB211-0586-3F61-7D26-0628C626F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337" y="4001294"/>
            <a:ext cx="2037347" cy="968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115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E1C3D8-C0AF-9252-DBE0-D5C06606E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785" y="65768"/>
            <a:ext cx="3695510" cy="5468758"/>
          </a:xfrm>
        </p:spPr>
        <p:txBody>
          <a:bodyPr>
            <a:normAutofit fontScale="90000"/>
          </a:bodyPr>
          <a:lstStyle/>
          <a:p>
            <a:r>
              <a:rPr lang="en-US" altLang="zh-CN" sz="2400" dirty="0"/>
              <a:t>  </a:t>
            </a:r>
            <a:r>
              <a:rPr lang="zh-CN" altLang="en-US" sz="2400" dirty="0"/>
              <a:t>横轴是</a:t>
            </a:r>
            <a:r>
              <a:rPr lang="zh-CN" altLang="zh-CN" sz="2400" dirty="0"/>
              <a:t>每个客户端每个原始参数维度累计发送 bit</a:t>
            </a:r>
            <a:r>
              <a:rPr lang="zh-CN" altLang="en-US" sz="2400" dirty="0"/>
              <a:t>数。</a:t>
            </a:r>
            <a:br>
              <a:rPr lang="en-US" altLang="zh-CN" sz="2400" dirty="0"/>
            </a:br>
            <a:r>
              <a:rPr lang="en-US" altLang="zh-CN" sz="2400" dirty="0"/>
              <a:t>  </a:t>
            </a:r>
            <a:r>
              <a:rPr lang="zh-CN" altLang="en-US" sz="2400" dirty="0"/>
              <a:t>主要对比组是</a:t>
            </a:r>
            <a:r>
              <a:rPr lang="en-US" altLang="zh-CN" sz="2400" dirty="0"/>
              <a:t>srk-4bit/kashin-2bit-lam2;    srk-8bit/kashin-4bit-lam2</a:t>
            </a:r>
            <a:r>
              <a:rPr lang="zh-CN" altLang="en-US" sz="2400" dirty="0"/>
              <a:t>，也就是关注</a:t>
            </a:r>
            <a:r>
              <a:rPr lang="en-US" altLang="zh-CN" sz="2400" dirty="0" err="1"/>
              <a:t>kashin</a:t>
            </a:r>
            <a:r>
              <a:rPr lang="zh-CN" altLang="en-US" sz="2400" dirty="0"/>
              <a:t>用更多变换后的扩展维度（</a:t>
            </a:r>
            <a:r>
              <a:rPr lang="en-US" altLang="zh-CN" sz="2400" dirty="0"/>
              <a:t>lam=2</a:t>
            </a:r>
            <a:r>
              <a:rPr lang="zh-CN" altLang="en-US" sz="2400" dirty="0"/>
              <a:t>时</a:t>
            </a:r>
            <a:r>
              <a:rPr lang="en-US" altLang="zh-CN" sz="2400" dirty="0"/>
              <a:t>1018440 </a:t>
            </a:r>
            <a:r>
              <a:rPr lang="zh-CN" altLang="en-US" sz="2400" dirty="0"/>
              <a:t>对比</a:t>
            </a:r>
            <a:r>
              <a:rPr lang="en-US" altLang="zh-CN" sz="2400" dirty="0"/>
              <a:t>65535</a:t>
            </a:r>
            <a:r>
              <a:rPr lang="zh-CN" altLang="en-US" sz="2400" dirty="0"/>
              <a:t>）和更少的量化等级能否达到近似的准确率，同时可以将通信开销减低。</a:t>
            </a:r>
            <a:br>
              <a:rPr lang="en-US" altLang="zh-CN" sz="2400" dirty="0"/>
            </a:br>
            <a:r>
              <a:rPr lang="en-US" altLang="zh-CN" sz="2400" dirty="0"/>
              <a:t>  </a:t>
            </a:r>
            <a:r>
              <a:rPr lang="zh-CN" altLang="en-US" sz="2400" dirty="0"/>
              <a:t>可以看出</a:t>
            </a:r>
            <a:r>
              <a:rPr lang="en-US" altLang="zh-CN" sz="2400" dirty="0"/>
              <a:t>kashin-2bit/kashin-4bit</a:t>
            </a:r>
            <a:r>
              <a:rPr lang="zh-CN" altLang="en-US" sz="2400" dirty="0"/>
              <a:t>达到了预期，降低通信开销</a:t>
            </a:r>
            <a:r>
              <a:rPr lang="en-US" altLang="zh-CN" sz="2400" dirty="0"/>
              <a:t>20%</a:t>
            </a:r>
            <a:r>
              <a:rPr lang="zh-CN" altLang="en-US" sz="2400" dirty="0"/>
              <a:t>。但</a:t>
            </a:r>
            <a:r>
              <a:rPr lang="en-US" altLang="zh-CN" sz="2400" dirty="0"/>
              <a:t>kashin-1bit</a:t>
            </a:r>
            <a:r>
              <a:rPr lang="zh-CN" altLang="en-US" sz="2400" dirty="0"/>
              <a:t>可能存在无法完成学习的问题。</a:t>
            </a:r>
            <a:br>
              <a:rPr lang="en-US" altLang="zh-CN" sz="2400" dirty="0"/>
            </a:br>
            <a:endParaRPr lang="zh-CN" altLang="en-US" sz="2400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121F768-2484-7DAC-FA76-74852E50DB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8608785" cy="516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569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72C642-90A9-8476-0DA8-AB179CC4D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6737" y="365125"/>
            <a:ext cx="2026919" cy="1325563"/>
          </a:xfrm>
        </p:spPr>
        <p:txBody>
          <a:bodyPr>
            <a:normAutofit/>
          </a:bodyPr>
          <a:lstStyle/>
          <a:p>
            <a:r>
              <a:rPr lang="zh-CN" altLang="en-US" sz="1600" dirty="0"/>
              <a:t>本图表示不同方法首次到达目标准确率的通信开销，可以看作上一张图的精细版本。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506E74F-981B-AAE0-78D3-65089BB36E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816738" cy="545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302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3FEFB6-C69F-162A-D8C7-BDA2379DB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一些问题：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C58FB6-37C3-1413-8810-3A3558990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现在两种方法采用的量化方法都是均匀量化，单独对比量化方法知道</a:t>
            </a:r>
            <a:r>
              <a:rPr lang="en-US" altLang="zh-CN" dirty="0" err="1"/>
              <a:t>kashin</a:t>
            </a:r>
            <a:r>
              <a:rPr lang="zh-CN" altLang="en-US" dirty="0"/>
              <a:t>变换使用</a:t>
            </a:r>
            <a:r>
              <a:rPr lang="en-US" altLang="zh-CN" dirty="0" err="1"/>
              <a:t>Lloydmax</a:t>
            </a:r>
            <a:r>
              <a:rPr lang="zh-CN" altLang="en-US" dirty="0"/>
              <a:t>量化法会有更好结果，但是这样跟</a:t>
            </a:r>
            <a:r>
              <a:rPr lang="en-US" altLang="zh-CN" dirty="0" err="1"/>
              <a:t>srk</a:t>
            </a:r>
            <a:r>
              <a:rPr lang="zh-CN" altLang="en-US" dirty="0"/>
              <a:t>对比可能无法知道优化是由于变换方法还是量化方法？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2.Kashin</a:t>
            </a:r>
            <a:r>
              <a:rPr lang="zh-CN" altLang="en-US" dirty="0"/>
              <a:t>变换的</a:t>
            </a:r>
            <a:r>
              <a:rPr lang="en-US" altLang="zh-CN" dirty="0"/>
              <a:t>λ</a:t>
            </a:r>
            <a:r>
              <a:rPr lang="zh-CN" altLang="en-US" dirty="0"/>
              <a:t>取值现在是固定为</a:t>
            </a:r>
            <a:r>
              <a:rPr lang="en-US" altLang="zh-CN" dirty="0"/>
              <a:t>2</a:t>
            </a:r>
            <a:r>
              <a:rPr lang="zh-CN" altLang="en-US" dirty="0"/>
              <a:t>，但是可能存在更优选择，还需要设计实验找出精度和开销间的权衡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3.</a:t>
            </a:r>
            <a:r>
              <a:rPr lang="zh-CN" altLang="en-US" dirty="0"/>
              <a:t>是因为数据集较简单所以开销较小和较大的方法结果接近，无法体现精度和开销间的权衡？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63487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786</TotalTime>
  <Words>688</Words>
  <Application>Microsoft Office PowerPoint</Application>
  <PresentationFormat>宽屏</PresentationFormat>
  <Paragraphs>27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Kashin压缩方法对比srk随机旋转量化方法</vt:lpstr>
      <vt:lpstr>联邦学习设置</vt:lpstr>
      <vt:lpstr>1.SRK随机旋转量化细节</vt:lpstr>
      <vt:lpstr>1.Kashin transform细节</vt:lpstr>
      <vt:lpstr>  横轴是每个客户端每个原始参数维度累计发送 bit数。   主要对比组是srk-4bit/kashin-2bit-lam2;    srk-8bit/kashin-4bit-lam2，也就是关注kashin用更多变换后的扩展维度（lam=2时1018440 对比65535）和更少的量化等级能否达到近似的准确率，同时可以将通信开销减低。   可以看出kashin-2bit/kashin-4bit达到了预期，降低通信开销20%。但kashin-1bit可能存在无法完成学习的问题。 </vt:lpstr>
      <vt:lpstr>本图表示不同方法首次到达目标准确率的通信开销，可以看作上一张图的精细版本。</vt:lpstr>
      <vt:lpstr>一些问题：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Haocheng Zhang</dc:creator>
  <cp:lastModifiedBy>Haocheng Zhang</cp:lastModifiedBy>
  <cp:revision>3</cp:revision>
  <dcterms:created xsi:type="dcterms:W3CDTF">2026-08-19T07:31:33Z</dcterms:created>
  <dcterms:modified xsi:type="dcterms:W3CDTF">2026-08-20T02:32:26Z</dcterms:modified>
</cp:coreProperties>
</file>