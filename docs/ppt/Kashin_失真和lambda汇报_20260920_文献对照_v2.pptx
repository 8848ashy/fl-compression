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2cb572109a47a7" /><Relationship Type="http://schemas.openxmlformats.org/officeDocument/2006/relationships/extended-properties" Target="/docProps/app.xml" Id="Rb76987e41e764c2f" /><Relationship Type="http://schemas.openxmlformats.org/officeDocument/2006/relationships/officeDocument" Target="/ppt/presentation.xml" Id="R1bd4b7fde7914ee1" /></Relationships>
</file>

<file path=ppt/presentation.xml><?xml version="1.0" encoding="utf-8"?>
<p:presentation xmlns:p="http://schemas.openxmlformats.org/presentationml/2006/main">
  <p:sldMasterIdLst>
    <p:sldMasterId xmlns:r="http://schemas.openxmlformats.org/officeDocument/2006/relationships" id="2147483648" r:id="R085984bb580f491e"/>
  </p:sldMasterIdLst>
  <p:notesMasterIdLst>
    <p:notesMasterId xmlns:r="http://schemas.openxmlformats.org/officeDocument/2006/relationships" r:id="Re3dc52f6c619479e"/>
  </p:notesMasterIdLst>
  <p:sldIdLst>
    <p:sldId xmlns:r="http://schemas.openxmlformats.org/officeDocument/2006/relationships" id="256" r:id="R8e48993996424ac0"/>
    <p:sldId xmlns:r="http://schemas.openxmlformats.org/officeDocument/2006/relationships" id="257" r:id="R9dd517a98b8745a3"/>
    <p:sldId xmlns:r="http://schemas.openxmlformats.org/officeDocument/2006/relationships" id="258" r:id="R94744d7dd636470d"/>
    <p:sldId xmlns:r="http://schemas.openxmlformats.org/officeDocument/2006/relationships" id="259" r:id="R8e46bfd35bdf4ffc"/>
    <p:sldId xmlns:r="http://schemas.openxmlformats.org/officeDocument/2006/relationships" id="260" r:id="Ra8929e6b018c4c2b"/>
    <p:sldId xmlns:r="http://schemas.openxmlformats.org/officeDocument/2006/relationships" id="261" r:id="Rce4aad966fdd46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0cf7b8073c4e24" /><Relationship Type="http://schemas.openxmlformats.org/officeDocument/2006/relationships/slideMaster" Target="/ppt/slideMasters/slideMaster1.xml" Id="R085984bb580f491e" /><Relationship Type="http://schemas.openxmlformats.org/officeDocument/2006/relationships/notesMaster" Target="/ppt/notesMasters/notesMaster1.xml" Id="Re3dc52f6c619479e" /><Relationship Type="http://schemas.openxmlformats.org/officeDocument/2006/relationships/presProps" Target="/ppt/presProps.xml" Id="R20dda058bd1c4d0d" /><Relationship Type="http://schemas.openxmlformats.org/officeDocument/2006/relationships/tableStyles" Target="/ppt/tableStyles.xml" Id="R47fbe5688b144a94" /><Relationship Type="http://schemas.openxmlformats.org/officeDocument/2006/relationships/slide" Target="/ppt/slides/slide1.xml" Id="R8e48993996424ac0" /><Relationship Type="http://schemas.openxmlformats.org/officeDocument/2006/relationships/slide" Target="/ppt/slides/slide2.xml" Id="R9dd517a98b8745a3" /><Relationship Type="http://schemas.openxmlformats.org/officeDocument/2006/relationships/slide" Target="/ppt/slides/slide3.xml" Id="R94744d7dd636470d" /><Relationship Type="http://schemas.openxmlformats.org/officeDocument/2006/relationships/slide" Target="/ppt/slides/slide4.xml" Id="R8e46bfd35bdf4ffc" /><Relationship Type="http://schemas.openxmlformats.org/officeDocument/2006/relationships/slide" Target="/ppt/slides/slide5.xml" Id="Ra8929e6b018c4c2b" /><Relationship Type="http://schemas.openxmlformats.org/officeDocument/2006/relationships/slide" Target="/ppt/slides/slide6.xml" Id="Rce4aad966fdd46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5991be3ee442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8e9d3f41144460" /><Relationship Type="http://schemas.openxmlformats.org/officeDocument/2006/relationships/notesMaster" Target="/ppt/notesMasters/notesMaster1.xml" Id="Rc07e51daa22342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c7cdd8db544fa1" /><Relationship Type="http://schemas.openxmlformats.org/officeDocument/2006/relationships/notesMaster" Target="/ppt/notesMasters/notesMaster1.xml" Id="R67e6872ac70e46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c416c86de24156" /><Relationship Type="http://schemas.openxmlformats.org/officeDocument/2006/relationships/notesMaster" Target="/ppt/notesMasters/notesMaster1.xml" Id="R4eba8a7df3ad40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036054eb5045d3" /><Relationship Type="http://schemas.openxmlformats.org/officeDocument/2006/relationships/notesMaster" Target="/ppt/notesMasters/notesMaster1.xml" Id="R312d61fa8ddc44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a78908eb8b4183" /><Relationship Type="http://schemas.openxmlformats.org/officeDocument/2006/relationships/notesMaster" Target="/ppt/notesMasters/notesMaster1.xml" Id="R171f11efffba4d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158570888240d6" /><Relationship Type="http://schemas.openxmlformats.org/officeDocument/2006/relationships/notesMaster" Target="/ppt/notesMasters/notesMaster1.xml" Id="R045652b42c7344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本次汇报使用本项目已运行的实验图。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图源：D:/FL/plots/kashin_lambda_tradeoff_per_dim.png。该图是旧实验，只用来说明当时的问题，不作为当前结论。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实验：experiments.matched_distortion；结果目录 results/20260917_235716_matched_distortion/。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图源：D:/FL/plots/20260917_235716_matched_distortion.png；5 seeds，3 snapshots，12 stochastic-rounding draws。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图源：D:/FL/plots/20260918_003054_accuracy_and_communication.png；完整结果 results/20260918_003054_matched_accuracy/。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DRIVE: Vargaftik et al., Advances in Neural Information Processing Systems 34, NeurIPS 2021, pp. 362–377. Saha et al., IEEE Journal on Selected Areas in Information Theory, vol. 3, no. 2, pp. 183–196, June 2022, DOI 10.1109/JSAIT.2022.3198412.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7b114032e042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2c7c2b35a940f9" /><Relationship Type="http://schemas.openxmlformats.org/officeDocument/2006/relationships/slideLayout" Target="/ppt/slideLayouts/slideLayout1.xml" Id="Re78b0f2260cb4f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8b0f2260cb4f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a8f51e8f244b1f" /><Relationship Type="http://schemas.openxmlformats.org/officeDocument/2006/relationships/notesSlide" Target="/ppt/notesSlides/notesSlide1.xml" Id="R3d414cf673c941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44d10b575f4ff9" /><Relationship Type="http://schemas.openxmlformats.org/officeDocument/2006/relationships/image" Target="/ppt/media/image.png" Id="R5eab7b8a36f04129" /><Relationship Type="http://schemas.openxmlformats.org/officeDocument/2006/relationships/notesSlide" Target="/ppt/notesSlides/notesSlide2.xml" Id="R8f0d86b4f38045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351b0f84004792" /><Relationship Type="http://schemas.openxmlformats.org/officeDocument/2006/relationships/notesSlide" Target="/ppt/notesSlides/notesSlide3.xml" Id="Rc334b40ca2c847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653393852f4f1b" /><Relationship Type="http://schemas.openxmlformats.org/officeDocument/2006/relationships/image" Target="/ppt/media/image2.png" Id="R335773d4f3174704" /><Relationship Type="http://schemas.openxmlformats.org/officeDocument/2006/relationships/notesSlide" Target="/ppt/notesSlides/notesSlide4.xml" Id="Rf5d391efe6074d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cd3c55e44f40e6" /><Relationship Type="http://schemas.openxmlformats.org/officeDocument/2006/relationships/image" Target="/ppt/media/image3.png" Id="Rcf8c036bd4e64721" /><Relationship Type="http://schemas.openxmlformats.org/officeDocument/2006/relationships/notesSlide" Target="/ppt/notesSlides/notesSlide5.xml" Id="R3049927e734a4b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d37e86e958458b" /><Relationship Type="http://schemas.openxmlformats.org/officeDocument/2006/relationships/notesSlide" Target="/ppt/notesSlides/notesSlide6.xml" Id="R35d4254b084a45a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F558D5-581F-4F20-9423-3A28FB1EAFA2}"/>
              </a:ext>
            </a:extLst>
          </p:cNvPr>
          <p:cNvSpPr>
            <a:spLocks xmlns:a="http://schemas.openxmlformats.org/drawingml/2006/main" noGrp="1"/>
          </p:cNvSpPr>
          <p:nvPr/>
        </p:nvSpPr>
        <p:spPr>
          <a:xfrm xmlns:a="http://schemas.openxmlformats.org/drawingml/2006/main">
            <a:off x="723900" y="1619250"/>
            <a:ext cx="990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17365D"/>
                </a:solidFill>
                <a:latin typeface="Arial"/>
                <a:ea typeface="Arial"/>
                <a:cs typeface="Arial"/>
              </a:defRPr>
            </a:pPr>
            <a:r>
              <a:rPr sz="3150" b="1">
                <a:solidFill>
                  <a:srgbClr val="17365D"/>
                </a:solidFill>
                <a:latin typeface="Arial"/>
                <a:ea typeface="Arial"/>
                <a:cs typeface="Arial"/>
              </a:rPr>
              <a:t>Kashin 压缩的失真误差和 λ</a:t>
            </a:r>
          </a:p>
        </p:txBody>
      </p:sp>
      <p:sp>
        <p:nvSpPr>
          <p:cNvPr id="2" name="">
            <a:extLst xmlns:a="http://schemas.openxmlformats.org/drawingml/2006/main">
              <a:ext uri="{FF2B5EF4-FFF2-40B4-BE49-F238E27FC236}">
                <a16:creationId xmlns:a16="http://schemas.microsoft.com/office/drawing/2014/main" id="{0567BCF7-FB84-4F05-BACC-F55FC338B81F}"/>
              </a:ext>
            </a:extLst>
          </p:cNvPr>
          <p:cNvSpPr>
            <a:spLocks xmlns:a="http://schemas.openxmlformats.org/drawingml/2006/main" noGrp="1"/>
          </p:cNvSpPr>
          <p:nvPr/>
        </p:nvSpPr>
        <p:spPr>
          <a:xfrm xmlns:a="http://schemas.openxmlformats.org/drawingml/2006/main">
            <a:off x="762000" y="2524125"/>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950" b="1">
                <a:solidFill>
                  <a:srgbClr val="2E75B6"/>
                </a:solidFill>
                <a:latin typeface="Arial"/>
                <a:ea typeface="Arial"/>
                <a:cs typeface="Arial"/>
              </a:defRPr>
            </a:pPr>
            <a:r>
              <a:rPr sz="1950" b="1">
                <a:solidFill>
                  <a:srgbClr val="2E75B6"/>
                </a:solidFill>
                <a:latin typeface="Arial"/>
                <a:ea typeface="Arial"/>
                <a:cs typeface="Arial"/>
              </a:rPr>
              <a:t>这次想回答两个问题</a:t>
            </a:r>
          </a:p>
        </p:txBody>
      </p:sp>
      <p:sp>
        <p:nvSpPr>
          <p:cNvPr id="3" name="">
            <a:extLst xmlns:a="http://schemas.openxmlformats.org/drawingml/2006/main">
              <a:ext uri="{FF2B5EF4-FFF2-40B4-BE49-F238E27FC236}">
                <a16:creationId xmlns:a16="http://schemas.microsoft.com/office/drawing/2014/main" id="{2C9F1F0F-6EE9-4362-98D7-3B20C5A88445}"/>
              </a:ext>
            </a:extLst>
          </p:cNvPr>
          <p:cNvSpPr>
            <a:spLocks xmlns:a="http://schemas.openxmlformats.org/drawingml/2006/main" noGrp="1"/>
          </p:cNvSpPr>
          <p:nvPr/>
        </p:nvSpPr>
        <p:spPr>
          <a:xfrm xmlns:a="http://schemas.openxmlformats.org/drawingml/2006/main">
            <a:off x="1066800" y="3162300"/>
            <a:ext cx="933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a:solidFill>
                  <a:srgbClr val="222222"/>
                </a:solidFill>
                <a:latin typeface="Arial"/>
                <a:ea typeface="Arial"/>
                <a:cs typeface="Arial"/>
              </a:defRPr>
            </a:pPr>
            <a:r>
              <a:rPr sz="2025" b="0">
                <a:solidFill>
                  <a:srgbClr val="222222"/>
                </a:solidFill>
                <a:latin typeface="Arial"/>
                <a:ea typeface="Arial"/>
                <a:cs typeface="Arial"/>
              </a:rPr>
              <a:t>1. Kashin 到底有没有让服务器收到的更新更准确？</a:t>
            </a:r>
          </a:p>
          <a:p xmlns:a="http://schemas.openxmlformats.org/drawingml/2006/main">
            <a:pPr>
              <a:defRPr sz="2025" b="0">
                <a:solidFill>
                  <a:srgbClr val="222222"/>
                </a:solidFill>
                <a:latin typeface="Arial"/>
                <a:ea typeface="Arial"/>
                <a:cs typeface="Arial"/>
              </a:defRPr>
            </a:pPr>
            <a:r>
              <a:rPr sz="2025" b="0">
                <a:solidFill>
                  <a:srgbClr val="222222"/>
                </a:solidFill>
                <a:latin typeface="Arial"/>
                <a:ea typeface="Arial"/>
                <a:cs typeface="Arial"/>
              </a:rPr>
              <a:t>2. λ 变大以后，到底有没有可能更划算？</a:t>
            </a:r>
          </a:p>
        </p:txBody>
      </p:sp>
      <p:sp>
        <p:nvSpPr>
          <p:cNvPr id="4" name="">
            <a:extLst xmlns:a="http://schemas.openxmlformats.org/drawingml/2006/main">
              <a:ext uri="{FF2B5EF4-FFF2-40B4-BE49-F238E27FC236}">
                <a16:creationId xmlns:a16="http://schemas.microsoft.com/office/drawing/2014/main" id="{B4878DCB-6BD5-4E7B-858F-E6967993621F}"/>
              </a:ext>
            </a:extLst>
          </p:cNvPr>
          <p:cNvSpPr>
            <a:spLocks xmlns:a="http://schemas.openxmlformats.org/drawingml/2006/main" noGrp="1"/>
          </p:cNvSpPr>
          <p:nvPr/>
        </p:nvSpPr>
        <p:spPr>
          <a:xfrm xmlns:a="http://schemas.openxmlformats.org/drawingml/2006/main">
            <a:off x="762000" y="5067300"/>
            <a:ext cx="857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666666"/>
                </a:solidFill>
                <a:latin typeface="Arial"/>
                <a:ea typeface="Arial"/>
                <a:cs typeface="Arial"/>
              </a:defRPr>
            </a:pPr>
            <a:r>
              <a:rPr sz="1425" b="0">
                <a:solidFill>
                  <a:srgbClr val="666666"/>
                </a:solidFill>
                <a:latin typeface="Arial"/>
                <a:ea typeface="Arial"/>
                <a:cs typeface="Arial"/>
              </a:rPr>
              <a:t>MNIST + MLP；联邦学习上传模型更新；2026.09</a:t>
            </a:r>
          </a:p>
        </p:txBody>
      </p:sp>
      <p:sp>
        <p:nvSpPr>
          <p:cNvPr id="5" name="">
            <a:extLst xmlns:a="http://schemas.openxmlformats.org/drawingml/2006/main">
              <a:ext uri="{FF2B5EF4-FFF2-40B4-BE49-F238E27FC236}">
                <a16:creationId xmlns:a16="http://schemas.microsoft.com/office/drawing/2014/main" id="{BE24DA3B-E692-4928-A18B-508CFFF40668}"/>
              </a:ext>
            </a:extLst>
          </p:cNvPr>
          <p:cNvSpPr>
            <a:spLocks xmlns:a="http://schemas.openxmlformats.org/drawingml/2006/main" noGrp="1"/>
          </p:cNvSpPr>
          <p:nvPr/>
        </p:nvSpPr>
        <p:spPr>
          <a:xfrm xmlns:a="http://schemas.openxmlformats.org/drawingml/2006/main">
            <a:off x="1133475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0">
                <a:solidFill>
                  <a:srgbClr val="666666"/>
                </a:solidFill>
                <a:latin typeface="Arial"/>
                <a:ea typeface="Arial"/>
                <a:cs typeface="Arial"/>
              </a:defRPr>
            </a:pPr>
            <a:r>
              <a:rPr sz="975" b="0">
                <a:solidFill>
                  <a:srgbClr val="666666"/>
                </a:solidFill>
                <a:latin typeface="Arial"/>
                <a:ea typeface="Arial"/>
                <a:cs typeface="Arial"/>
              </a:rPr>
              <a:t>1</a:t>
            </a:r>
          </a:p>
        </p:txBody>
      </p:sp>
    </p:spTree>
    <p:extLst>
      <p:ext uri="{BB962C8B-B14F-4D97-AF65-F5344CB8AC3E}">
        <p14:creationId xmlns:p14="http://schemas.microsoft.com/office/powerpoint/2010/main" val="9576542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57DA9B-B2FD-41A0-922F-D7731E2B35F7}"/>
              </a:ext>
            </a:extLst>
          </p:cNvPr>
          <p:cNvSpPr>
            <a:spLocks xmlns:a="http://schemas.openxmlformats.org/drawingml/2006/main" noGrp="1"/>
          </p:cNvSpPr>
          <p:nvPr/>
        </p:nvSpPr>
        <p:spPr>
          <a:xfrm xmlns:a="http://schemas.openxmlformats.org/drawingml/2006/main">
            <a:off x="495300" y="3048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b="1">
                <a:solidFill>
                  <a:srgbClr val="17365D"/>
                </a:solidFill>
                <a:latin typeface="Arial"/>
                <a:ea typeface="Arial"/>
                <a:cs typeface="Arial"/>
              </a:defRPr>
            </a:pPr>
            <a:r>
              <a:rPr sz="2325" b="1">
                <a:solidFill>
                  <a:srgbClr val="17365D"/>
                </a:solidFill>
                <a:latin typeface="Arial"/>
                <a:ea typeface="Arial"/>
                <a:cs typeface="Arial"/>
              </a:rPr>
              <a:t>上次的 λ 图告诉了我什么</a:t>
            </a:r>
          </a:p>
        </p:txBody>
      </p:sp>
      <p:sp>
        <p:nvSpPr>
          <p:cNvPr id="2" name="">
            <a:extLst xmlns:a="http://schemas.openxmlformats.org/drawingml/2006/main">
              <a:ext uri="{FF2B5EF4-FFF2-40B4-BE49-F238E27FC236}">
                <a16:creationId xmlns:a16="http://schemas.microsoft.com/office/drawing/2014/main" id="{F7A6F41B-13D3-452C-8154-D9165A603140}"/>
              </a:ext>
            </a:extLst>
          </p:cNvPr>
          <p:cNvSpPr>
            <a:spLocks xmlns:a="http://schemas.openxmlformats.org/drawingml/2006/main" noGrp="1"/>
          </p:cNvSpPr>
          <p:nvPr/>
        </p:nvSpPr>
        <p:spPr>
          <a:xfrm xmlns:a="http://schemas.openxmlformats.org/drawingml/2006/main">
            <a:off x="495300" y="885825"/>
            <a:ext cx="11201400" cy="28575"/>
          </a:xfrm>
          <a:prstGeom xmlns:a="http://schemas.openxmlformats.org/drawingml/2006/main" prst="rect">
            <a:avLst/>
          </a:prstGeom>
          <a:solidFill xmlns:a="http://schemas.openxmlformats.org/drawingml/2006/main">
            <a:srgbClr val="2E75B6"/>
          </a:solidFill>
          <a:ln xmlns:a="http://schemas.openxmlformats.org/drawingml/2006/main" w="0">
            <a:solidFill>
              <a:srgbClr val="2E75B6"/>
            </a:solidFill>
          </a:ln>
        </p:spPr>
      </p:sp>
      <p:sp>
        <p:nvSpPr>
          <p:cNvPr id="3" name="">
            <a:extLst xmlns:a="http://schemas.openxmlformats.org/drawingml/2006/main">
              <a:ext uri="{FF2B5EF4-FFF2-40B4-BE49-F238E27FC236}">
                <a16:creationId xmlns:a16="http://schemas.microsoft.com/office/drawing/2014/main" id="{B086BA82-2C12-4AB4-8F1C-21C59B2FD6AA}"/>
              </a:ext>
            </a:extLst>
          </p:cNvPr>
          <p:cNvSpPr>
            <a:spLocks xmlns:a="http://schemas.openxmlformats.org/drawingml/2006/main" noGrp="1"/>
          </p:cNvSpPr>
          <p:nvPr/>
        </p:nvSpPr>
        <p:spPr>
          <a:xfrm xmlns:a="http://schemas.openxmlformats.org/drawingml/2006/main">
            <a:off x="1133475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0">
                <a:solidFill>
                  <a:srgbClr val="666666"/>
                </a:solidFill>
                <a:latin typeface="Arial"/>
                <a:ea typeface="Arial"/>
                <a:cs typeface="Arial"/>
              </a:defRPr>
            </a:pPr>
            <a:r>
              <a:rPr sz="975" b="0">
                <a:solidFill>
                  <a:srgbClr val="666666"/>
                </a:solidFill>
                <a:latin typeface="Arial"/>
                <a:ea typeface="Arial"/>
                <a:cs typeface="Arial"/>
              </a:rPr>
              <a:t>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eab7b8a36f04129"/>
          <a:stretch xmlns:a="http://schemas.openxmlformats.org/drawingml/2006/main"/>
        </p:blipFill>
        <p:spPr>
          <a:xfrm xmlns:a="http://schemas.openxmlformats.org/drawingml/2006/main">
            <a:off x="361950" y="1638300"/>
            <a:ext cx="6762750" cy="4057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E04B4CA-F41A-43B8-A5C2-D6493C8CBC17}"/>
              </a:ext>
            </a:extLst>
          </p:cNvPr>
          <p:cNvSpPr>
            <a:spLocks xmlns:a="http://schemas.openxmlformats.org/drawingml/2006/main" noGrp="1"/>
          </p:cNvSpPr>
          <p:nvPr/>
        </p:nvSpPr>
        <p:spPr>
          <a:xfrm xmlns:a="http://schemas.openxmlformats.org/drawingml/2006/main">
            <a:off x="7477125" y="1428750"/>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a:solidFill>
                  <a:srgbClr val="17365D"/>
                </a:solidFill>
                <a:latin typeface="Arial"/>
                <a:ea typeface="Arial"/>
                <a:cs typeface="Arial"/>
              </a:defRPr>
            </a:pPr>
            <a:r>
              <a:rPr sz="1875" b="1">
                <a:solidFill>
                  <a:srgbClr val="17365D"/>
                </a:solidFill>
                <a:latin typeface="Arial"/>
                <a:ea typeface="Arial"/>
                <a:cs typeface="Arial"/>
              </a:rPr>
              <a:t>以前的图里，λ 变大以后，准确率没有明显变好。</a:t>
            </a:r>
          </a:p>
        </p:txBody>
      </p:sp>
      <p:sp>
        <p:nvSpPr>
          <p:cNvPr id="6" name="">
            <a:extLst xmlns:a="http://schemas.openxmlformats.org/drawingml/2006/main">
              <a:ext uri="{FF2B5EF4-FFF2-40B4-BE49-F238E27FC236}">
                <a16:creationId xmlns:a16="http://schemas.microsoft.com/office/drawing/2014/main" id="{9FED0A6B-5A8B-47D4-A75E-C88401EA078C}"/>
              </a:ext>
            </a:extLst>
          </p:cNvPr>
          <p:cNvSpPr>
            <a:spLocks xmlns:a="http://schemas.openxmlformats.org/drawingml/2006/main" noGrp="1"/>
          </p:cNvSpPr>
          <p:nvPr/>
        </p:nvSpPr>
        <p:spPr>
          <a:xfrm xmlns:a="http://schemas.openxmlformats.org/drawingml/2006/main">
            <a:off x="7477125" y="2524125"/>
            <a:ext cx="3905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但这个图还有问题：</a:t>
            </a:r>
          </a:p>
          <a:p xmlns:a="http://schemas.openxmlformats.org/drawingml/2006/main">
            <a:r>
              <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以前主要看最高准确率。</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单种子波动比较大。</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差异来自变换，还是训练随机性，还不清楚。</a:t>
            </a:r>
          </a:p>
        </p:txBody>
      </p:sp>
      <p:sp>
        <p:nvSpPr>
          <p:cNvPr id="7" name="">
            <a:extLst xmlns:a="http://schemas.openxmlformats.org/drawingml/2006/main">
              <a:ext uri="{FF2B5EF4-FFF2-40B4-BE49-F238E27FC236}">
                <a16:creationId xmlns:a16="http://schemas.microsoft.com/office/drawing/2014/main" id="{78AA3D06-7C64-4967-BEA5-1E8D22D4D65A}"/>
              </a:ext>
            </a:extLst>
          </p:cNvPr>
          <p:cNvSpPr>
            <a:spLocks xmlns:a="http://schemas.openxmlformats.org/drawingml/2006/main" noGrp="1"/>
          </p:cNvSpPr>
          <p:nvPr/>
        </p:nvSpPr>
        <p:spPr>
          <a:xfrm xmlns:a="http://schemas.openxmlformats.org/drawingml/2006/main">
            <a:off x="7477125" y="481012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a:solidFill>
                  <a:srgbClr val="2E75B6"/>
                </a:solidFill>
                <a:latin typeface="Arial"/>
                <a:ea typeface="Arial"/>
                <a:cs typeface="Arial"/>
              </a:defRPr>
            </a:pPr>
            <a:r>
              <a:rPr sz="1725" b="1">
                <a:solidFill>
                  <a:srgbClr val="2E75B6"/>
                </a:solidFill>
                <a:latin typeface="Arial"/>
                <a:ea typeface="Arial"/>
                <a:cs typeface="Arial"/>
              </a:rPr>
              <a:t>所以这次先不直接问“准确率谁最高”，先问压缩本身带来了多少误差。</a:t>
            </a:r>
          </a:p>
        </p:txBody>
      </p:sp>
    </p:spTree>
    <p:extLst>
      <p:ext uri="{BB962C8B-B14F-4D97-AF65-F5344CB8AC3E}">
        <p14:creationId xmlns:p14="http://schemas.microsoft.com/office/powerpoint/2010/main" val="18496137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314A83-CC3A-456B-9A13-EFD7C437400D}"/>
              </a:ext>
            </a:extLst>
          </p:cNvPr>
          <p:cNvSpPr>
            <a:spLocks xmlns:a="http://schemas.openxmlformats.org/drawingml/2006/main" noGrp="1"/>
          </p:cNvSpPr>
          <p:nvPr/>
        </p:nvSpPr>
        <p:spPr>
          <a:xfrm xmlns:a="http://schemas.openxmlformats.org/drawingml/2006/main">
            <a:off x="495300" y="3048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b="1">
                <a:solidFill>
                  <a:srgbClr val="17365D"/>
                </a:solidFill>
                <a:latin typeface="Arial"/>
                <a:ea typeface="Arial"/>
                <a:cs typeface="Arial"/>
              </a:defRPr>
            </a:pPr>
            <a:r>
              <a:rPr sz="2325" b="1">
                <a:solidFill>
                  <a:srgbClr val="17365D"/>
                </a:solidFill>
                <a:latin typeface="Arial"/>
                <a:ea typeface="Arial"/>
                <a:cs typeface="Arial"/>
              </a:rPr>
              <a:t>这次先测“服务器收到的更新差多少”</a:t>
            </a:r>
          </a:p>
        </p:txBody>
      </p:sp>
      <p:sp>
        <p:nvSpPr>
          <p:cNvPr id="2" name="">
            <a:extLst xmlns:a="http://schemas.openxmlformats.org/drawingml/2006/main">
              <a:ext uri="{FF2B5EF4-FFF2-40B4-BE49-F238E27FC236}">
                <a16:creationId xmlns:a16="http://schemas.microsoft.com/office/drawing/2014/main" id="{D7DF8FBA-8635-4B9A-A350-2287ABE67940}"/>
              </a:ext>
            </a:extLst>
          </p:cNvPr>
          <p:cNvSpPr>
            <a:spLocks xmlns:a="http://schemas.openxmlformats.org/drawingml/2006/main" noGrp="1"/>
          </p:cNvSpPr>
          <p:nvPr/>
        </p:nvSpPr>
        <p:spPr>
          <a:xfrm xmlns:a="http://schemas.openxmlformats.org/drawingml/2006/main">
            <a:off x="495300" y="885825"/>
            <a:ext cx="11201400" cy="28575"/>
          </a:xfrm>
          <a:prstGeom xmlns:a="http://schemas.openxmlformats.org/drawingml/2006/main" prst="rect">
            <a:avLst/>
          </a:prstGeom>
          <a:solidFill xmlns:a="http://schemas.openxmlformats.org/drawingml/2006/main">
            <a:srgbClr val="2E75B6"/>
          </a:solidFill>
          <a:ln xmlns:a="http://schemas.openxmlformats.org/drawingml/2006/main" w="0">
            <a:solidFill>
              <a:srgbClr val="2E75B6"/>
            </a:solidFill>
          </a:ln>
        </p:spPr>
      </p:sp>
      <p:sp>
        <p:nvSpPr>
          <p:cNvPr id="3" name="">
            <a:extLst xmlns:a="http://schemas.openxmlformats.org/drawingml/2006/main">
              <a:ext uri="{FF2B5EF4-FFF2-40B4-BE49-F238E27FC236}">
                <a16:creationId xmlns:a16="http://schemas.microsoft.com/office/drawing/2014/main" id="{A83EBDCD-5196-4B79-B2CC-88004B9205CD}"/>
              </a:ext>
            </a:extLst>
          </p:cNvPr>
          <p:cNvSpPr>
            <a:spLocks xmlns:a="http://schemas.openxmlformats.org/drawingml/2006/main" noGrp="1"/>
          </p:cNvSpPr>
          <p:nvPr/>
        </p:nvSpPr>
        <p:spPr>
          <a:xfrm xmlns:a="http://schemas.openxmlformats.org/drawingml/2006/main">
            <a:off x="1133475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0">
                <a:solidFill>
                  <a:srgbClr val="666666"/>
                </a:solidFill>
                <a:latin typeface="Arial"/>
                <a:ea typeface="Arial"/>
                <a:cs typeface="Arial"/>
              </a:defRPr>
            </a:pPr>
            <a:r>
              <a:rPr sz="975" b="0">
                <a:solidFill>
                  <a:srgbClr val="666666"/>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FFBAC56C-4BA9-4ACF-A86B-10C8F10F173C}"/>
              </a:ext>
            </a:extLst>
          </p:cNvPr>
          <p:cNvSpPr>
            <a:spLocks xmlns:a="http://schemas.openxmlformats.org/drawingml/2006/main" noGrp="1"/>
          </p:cNvSpPr>
          <p:nvPr/>
        </p:nvSpPr>
        <p:spPr>
          <a:xfrm xmlns:a="http://schemas.openxmlformats.org/drawingml/2006/main">
            <a:off x="457200" y="1381125"/>
            <a:ext cx="6191250" cy="3714750"/>
          </a:xfrm>
          <a:prstGeom xmlns:a="http://schemas.openxmlformats.org/drawingml/2006/main" prst="rect">
            <a:avLst/>
          </a:prstGeom>
          <a:solidFill xmlns:a="http://schemas.openxmlformats.org/drawingml/2006/main">
            <a:srgbClr val="EEF4FA"/>
          </a:solidFill>
          <a:ln xmlns:a="http://schemas.openxmlformats.org/drawingml/2006/main" w="9525">
            <a:solidFill>
              <a:srgbClr val="BCD3E6"/>
            </a:solidFill>
          </a:ln>
        </p:spPr>
      </p:sp>
      <p:sp>
        <p:nvSpPr>
          <p:cNvPr id="5" name="">
            <a:extLst xmlns:a="http://schemas.openxmlformats.org/drawingml/2006/main">
              <a:ext uri="{FF2B5EF4-FFF2-40B4-BE49-F238E27FC236}">
                <a16:creationId xmlns:a16="http://schemas.microsoft.com/office/drawing/2014/main" id="{894E0063-15A2-49F3-B8A2-9895D5E57287}"/>
              </a:ext>
            </a:extLst>
          </p:cNvPr>
          <p:cNvSpPr>
            <a:spLocks xmlns:a="http://schemas.openxmlformats.org/drawingml/2006/main" noGrp="1"/>
          </p:cNvSpPr>
          <p:nvPr/>
        </p:nvSpPr>
        <p:spPr>
          <a:xfrm xmlns:a="http://schemas.openxmlformats.org/drawingml/2006/main">
            <a:off x="742950" y="1685925"/>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a:solidFill>
                  <a:srgbClr val="17365D"/>
                </a:solidFill>
                <a:latin typeface="Arial"/>
                <a:ea typeface="Arial"/>
                <a:cs typeface="Arial"/>
              </a:defRPr>
            </a:pPr>
            <a:r>
              <a:rPr sz="2025" b="1">
                <a:solidFill>
                  <a:srgbClr val="17365D"/>
                </a:solidFill>
                <a:latin typeface="Arial"/>
                <a:ea typeface="Arial"/>
                <a:cs typeface="Arial"/>
              </a:rPr>
              <a:t>同一批客户端更新，分别压缩，再比较</a:t>
            </a:r>
          </a:p>
        </p:txBody>
      </p:sp>
      <p:sp>
        <p:nvSpPr>
          <p:cNvPr id="6" name="">
            <a:extLst xmlns:a="http://schemas.openxmlformats.org/drawingml/2006/main">
              <a:ext uri="{FF2B5EF4-FFF2-40B4-BE49-F238E27FC236}">
                <a16:creationId xmlns:a16="http://schemas.microsoft.com/office/drawing/2014/main" id="{372929A1-B1CB-4B79-875E-C668D5C85DAF}"/>
              </a:ext>
            </a:extLst>
          </p:cNvPr>
          <p:cNvSpPr>
            <a:spLocks xmlns:a="http://schemas.openxmlformats.org/drawingml/2006/main" noGrp="1"/>
          </p:cNvSpPr>
          <p:nvPr/>
        </p:nvSpPr>
        <p:spPr>
          <a:xfrm xmlns:a="http://schemas.openxmlformats.org/drawingml/2006/main">
            <a:off x="990600" y="2457450"/>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a:solidFill>
                  <a:srgbClr val="2E75B6"/>
                </a:solidFill>
                <a:latin typeface="Arial"/>
                <a:ea typeface="Arial"/>
                <a:cs typeface="Arial"/>
              </a:defRPr>
            </a:pPr>
            <a:r>
              <a:rPr sz="2025" b="1">
                <a:solidFill>
                  <a:srgbClr val="2E75B6"/>
                </a:solidFill>
                <a:latin typeface="Arial"/>
                <a:ea typeface="Arial"/>
                <a:cs typeface="Arial"/>
              </a:rPr>
              <a:t>真实平均更新</a:t>
            </a:r>
          </a:p>
        </p:txBody>
      </p:sp>
      <p:sp>
        <p:nvSpPr>
          <p:cNvPr id="7" name="">
            <a:extLst xmlns:a="http://schemas.openxmlformats.org/drawingml/2006/main">
              <a:ext uri="{FF2B5EF4-FFF2-40B4-BE49-F238E27FC236}">
                <a16:creationId xmlns:a16="http://schemas.microsoft.com/office/drawing/2014/main" id="{B8365325-9105-4E3C-986B-AF38D767E4A0}"/>
              </a:ext>
            </a:extLst>
          </p:cNvPr>
          <p:cNvSpPr>
            <a:spLocks xmlns:a="http://schemas.openxmlformats.org/drawingml/2006/main" noGrp="1"/>
          </p:cNvSpPr>
          <p:nvPr/>
        </p:nvSpPr>
        <p:spPr>
          <a:xfrm xmlns:a="http://schemas.openxmlformats.org/drawingml/2006/main">
            <a:off x="990600" y="31432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defRPr sz="1500" b="0">
                <a:solidFill>
                  <a:srgbClr val="666666"/>
                </a:solidFill>
                <a:latin typeface="Arial"/>
                <a:ea typeface="Arial"/>
                <a:cs typeface="Arial"/>
              </a:defRPr>
            </a:pPr>
            <a:r>
              <a:rPr sz="1500" b="0">
                <a:solidFill>
                  <a:srgbClr val="666666"/>
                </a:solidFill>
                <a:latin typeface="Arial"/>
                <a:ea typeface="Arial"/>
                <a:cs typeface="Arial"/>
              </a:rPr>
              <a:t>和</a:t>
            </a:r>
          </a:p>
        </p:txBody>
      </p:sp>
      <p:sp>
        <p:nvSpPr>
          <p:cNvPr id="8" name="">
            <a:extLst xmlns:a="http://schemas.openxmlformats.org/drawingml/2006/main">
              <a:ext uri="{FF2B5EF4-FFF2-40B4-BE49-F238E27FC236}">
                <a16:creationId xmlns:a16="http://schemas.microsoft.com/office/drawing/2014/main" id="{06A59D39-9DCD-46B3-BBDD-66A0AD954895}"/>
              </a:ext>
            </a:extLst>
          </p:cNvPr>
          <p:cNvSpPr>
            <a:spLocks xmlns:a="http://schemas.openxmlformats.org/drawingml/2006/main" noGrp="1"/>
          </p:cNvSpPr>
          <p:nvPr/>
        </p:nvSpPr>
        <p:spPr>
          <a:xfrm xmlns:a="http://schemas.openxmlformats.org/drawingml/2006/main">
            <a:off x="990600" y="3695700"/>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a:solidFill>
                  <a:srgbClr val="E46C0A"/>
                </a:solidFill>
                <a:latin typeface="Arial"/>
                <a:ea typeface="Arial"/>
                <a:cs typeface="Arial"/>
              </a:defRPr>
            </a:pPr>
            <a:r>
              <a:rPr sz="2025" b="1">
                <a:solidFill>
                  <a:srgbClr val="E46C0A"/>
                </a:solidFill>
                <a:latin typeface="Arial"/>
                <a:ea typeface="Arial"/>
                <a:cs typeface="Arial"/>
              </a:rPr>
              <a:t>压缩后恢复的平均更新</a:t>
            </a:r>
          </a:p>
        </p:txBody>
      </p:sp>
      <p:sp>
        <p:nvSpPr>
          <p:cNvPr id="9" name="">
            <a:extLst xmlns:a="http://schemas.openxmlformats.org/drawingml/2006/main">
              <a:ext uri="{FF2B5EF4-FFF2-40B4-BE49-F238E27FC236}">
                <a16:creationId xmlns:a16="http://schemas.microsoft.com/office/drawing/2014/main" id="{62D946B8-7EFA-476B-BCFF-624B5DABBB41}"/>
              </a:ext>
            </a:extLst>
          </p:cNvPr>
          <p:cNvSpPr>
            <a:spLocks xmlns:a="http://schemas.openxmlformats.org/drawingml/2006/main" noGrp="1"/>
          </p:cNvSpPr>
          <p:nvPr/>
        </p:nvSpPr>
        <p:spPr>
          <a:xfrm xmlns:a="http://schemas.openxmlformats.org/drawingml/2006/main">
            <a:off x="742950" y="449580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a:solidFill>
                  <a:srgbClr val="222222"/>
                </a:solidFill>
                <a:latin typeface="Arial"/>
                <a:ea typeface="Arial"/>
                <a:cs typeface="Arial"/>
              </a:defRPr>
            </a:pPr>
            <a:r>
              <a:rPr sz="1575" b="0">
                <a:solidFill>
                  <a:srgbClr val="222222"/>
                </a:solidFill>
                <a:latin typeface="Arial"/>
                <a:ea typeface="Arial"/>
                <a:cs typeface="Arial"/>
              </a:rPr>
              <a:t>两者距离越小，说明压缩带来的误差越小。</a:t>
            </a:r>
          </a:p>
        </p:txBody>
      </p:sp>
      <p:sp>
        <p:nvSpPr>
          <p:cNvPr id="10" name="">
            <a:extLst xmlns:a="http://schemas.openxmlformats.org/drawingml/2006/main">
              <a:ext uri="{FF2B5EF4-FFF2-40B4-BE49-F238E27FC236}">
                <a16:creationId xmlns:a16="http://schemas.microsoft.com/office/drawing/2014/main" id="{0EC4B4AB-BB87-4BCC-8968-C69EF196070D}"/>
              </a:ext>
            </a:extLst>
          </p:cNvPr>
          <p:cNvSpPr>
            <a:spLocks xmlns:a="http://schemas.openxmlformats.org/drawingml/2006/main" noGrp="1"/>
          </p:cNvSpPr>
          <p:nvPr/>
        </p:nvSpPr>
        <p:spPr>
          <a:xfrm xmlns:a="http://schemas.openxmlformats.org/drawingml/2006/main">
            <a:off x="7239000" y="1504950"/>
            <a:ext cx="4000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1">
                <a:solidFill>
                  <a:srgbClr val="17365D"/>
                </a:solidFill>
                <a:latin typeface="Arial"/>
                <a:ea typeface="Arial"/>
                <a:cs typeface="Arial"/>
              </a:defRPr>
            </a:pPr>
            <a:r>
              <a:rPr sz="1875" b="1">
                <a:solidFill>
                  <a:srgbClr val="17365D"/>
                </a:solidFill>
                <a:latin typeface="Arial"/>
                <a:ea typeface="Arial"/>
                <a:cs typeface="Arial"/>
              </a:rPr>
              <a:t>这次把训练过程先固定住。每种方法看到的是同一批真实更新。</a:t>
            </a:r>
          </a:p>
        </p:txBody>
      </p:sp>
      <p:sp>
        <p:nvSpPr>
          <p:cNvPr id="11" name="">
            <a:extLst xmlns:a="http://schemas.openxmlformats.org/drawingml/2006/main">
              <a:ext uri="{FF2B5EF4-FFF2-40B4-BE49-F238E27FC236}">
                <a16:creationId xmlns:a16="http://schemas.microsoft.com/office/drawing/2014/main" id="{8D1F469A-E3DA-4F5A-B8DD-5003AC606B20}"/>
              </a:ext>
            </a:extLst>
          </p:cNvPr>
          <p:cNvSpPr>
            <a:spLocks xmlns:a="http://schemas.openxmlformats.org/drawingml/2006/main" noGrp="1"/>
          </p:cNvSpPr>
          <p:nvPr/>
        </p:nvSpPr>
        <p:spPr>
          <a:xfrm xmlns:a="http://schemas.openxmlformats.org/drawingml/2006/main">
            <a:off x="7239000" y="2667000"/>
            <a:ext cx="400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 5 个随机种子</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 每个种子取第 1、5、15 轮</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 每次更新重复量化 12 次</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 SRK、直接 Fourier、两种 Kashin 都用同一批输入</a:t>
            </a:r>
          </a:p>
        </p:txBody>
      </p:sp>
      <p:sp>
        <p:nvSpPr>
          <p:cNvPr id="12" name="">
            <a:extLst xmlns:a="http://schemas.openxmlformats.org/drawingml/2006/main">
              <a:ext uri="{FF2B5EF4-FFF2-40B4-BE49-F238E27FC236}">
                <a16:creationId xmlns:a16="http://schemas.microsoft.com/office/drawing/2014/main" id="{B5B013E9-4DEA-46BC-AC72-E040B7FA3DD3}"/>
              </a:ext>
            </a:extLst>
          </p:cNvPr>
          <p:cNvSpPr>
            <a:spLocks xmlns:a="http://schemas.openxmlformats.org/drawingml/2006/main" noGrp="1"/>
          </p:cNvSpPr>
          <p:nvPr/>
        </p:nvSpPr>
        <p:spPr>
          <a:xfrm xmlns:a="http://schemas.openxmlformats.org/drawingml/2006/main">
            <a:off x="7239000" y="4810125"/>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a:solidFill>
                  <a:srgbClr val="2E75B6"/>
                </a:solidFill>
                <a:latin typeface="Arial"/>
                <a:ea typeface="Arial"/>
                <a:cs typeface="Arial"/>
              </a:defRPr>
            </a:pPr>
            <a:r>
              <a:rPr sz="1800" b="1">
                <a:solidFill>
                  <a:srgbClr val="2E75B6"/>
                </a:solidFill>
                <a:latin typeface="Arial"/>
                <a:ea typeface="Arial"/>
                <a:cs typeface="Arial"/>
              </a:rPr>
              <a:t>这样测到的差别，主要就是压缩器本身的差别。</a:t>
            </a:r>
          </a:p>
        </p:txBody>
      </p:sp>
    </p:spTree>
    <p:extLst>
      <p:ext uri="{BB962C8B-B14F-4D97-AF65-F5344CB8AC3E}">
        <p14:creationId xmlns:p14="http://schemas.microsoft.com/office/powerpoint/2010/main" val="20697055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8461F9-2B63-40B5-AB64-59376C2052AC}"/>
              </a:ext>
            </a:extLst>
          </p:cNvPr>
          <p:cNvSpPr>
            <a:spLocks xmlns:a="http://schemas.openxmlformats.org/drawingml/2006/main" noGrp="1"/>
          </p:cNvSpPr>
          <p:nvPr/>
        </p:nvSpPr>
        <p:spPr>
          <a:xfrm xmlns:a="http://schemas.openxmlformats.org/drawingml/2006/main">
            <a:off x="495300" y="3048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b="1">
                <a:solidFill>
                  <a:srgbClr val="17365D"/>
                </a:solidFill>
                <a:latin typeface="Arial"/>
                <a:ea typeface="Arial"/>
                <a:cs typeface="Arial"/>
              </a:defRPr>
            </a:pPr>
            <a:r>
              <a:rPr sz="2325" b="1">
                <a:solidFill>
                  <a:srgbClr val="17365D"/>
                </a:solidFill>
                <a:latin typeface="Arial"/>
                <a:ea typeface="Arial"/>
                <a:cs typeface="Arial"/>
              </a:rPr>
              <a:t>相同发送长度下，Kashin 的失真更小</a:t>
            </a:r>
          </a:p>
        </p:txBody>
      </p:sp>
      <p:sp>
        <p:nvSpPr>
          <p:cNvPr id="2" name="">
            <a:extLst xmlns:a="http://schemas.openxmlformats.org/drawingml/2006/main">
              <a:ext uri="{FF2B5EF4-FFF2-40B4-BE49-F238E27FC236}">
                <a16:creationId xmlns:a16="http://schemas.microsoft.com/office/drawing/2014/main" id="{CDA7E266-DA0B-4946-B630-0013B4CCC227}"/>
              </a:ext>
            </a:extLst>
          </p:cNvPr>
          <p:cNvSpPr>
            <a:spLocks xmlns:a="http://schemas.openxmlformats.org/drawingml/2006/main" noGrp="1"/>
          </p:cNvSpPr>
          <p:nvPr/>
        </p:nvSpPr>
        <p:spPr>
          <a:xfrm xmlns:a="http://schemas.openxmlformats.org/drawingml/2006/main">
            <a:off x="495300" y="885825"/>
            <a:ext cx="11201400" cy="28575"/>
          </a:xfrm>
          <a:prstGeom xmlns:a="http://schemas.openxmlformats.org/drawingml/2006/main" prst="rect">
            <a:avLst/>
          </a:prstGeom>
          <a:solidFill xmlns:a="http://schemas.openxmlformats.org/drawingml/2006/main">
            <a:srgbClr val="2E75B6"/>
          </a:solidFill>
          <a:ln xmlns:a="http://schemas.openxmlformats.org/drawingml/2006/main" w="0">
            <a:solidFill>
              <a:srgbClr val="2E75B6"/>
            </a:solidFill>
          </a:ln>
        </p:spPr>
      </p:sp>
      <p:sp>
        <p:nvSpPr>
          <p:cNvPr id="3" name="">
            <a:extLst xmlns:a="http://schemas.openxmlformats.org/drawingml/2006/main">
              <a:ext uri="{FF2B5EF4-FFF2-40B4-BE49-F238E27FC236}">
                <a16:creationId xmlns:a16="http://schemas.microsoft.com/office/drawing/2014/main" id="{44069BF0-AB6C-48DC-BC40-EC11F9FE212D}"/>
              </a:ext>
            </a:extLst>
          </p:cNvPr>
          <p:cNvSpPr>
            <a:spLocks xmlns:a="http://schemas.openxmlformats.org/drawingml/2006/main" noGrp="1"/>
          </p:cNvSpPr>
          <p:nvPr/>
        </p:nvSpPr>
        <p:spPr>
          <a:xfrm xmlns:a="http://schemas.openxmlformats.org/drawingml/2006/main">
            <a:off x="1133475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0">
                <a:solidFill>
                  <a:srgbClr val="666666"/>
                </a:solidFill>
                <a:latin typeface="Arial"/>
                <a:ea typeface="Arial"/>
                <a:cs typeface="Arial"/>
              </a:defRPr>
            </a:pPr>
            <a:r>
              <a:rPr sz="975" b="0">
                <a:solidFill>
                  <a:srgbClr val="666666"/>
                </a:solidFill>
                <a:latin typeface="Arial"/>
                <a:ea typeface="Arial"/>
                <a:cs typeface="Arial"/>
              </a:rPr>
              <a:t>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35773d4f3174704"/>
          <a:stretch xmlns:a="http://schemas.openxmlformats.org/drawingml/2006/main"/>
        </p:blipFill>
        <p:spPr>
          <a:xfrm xmlns:a="http://schemas.openxmlformats.org/drawingml/2006/main">
            <a:off x="238125" y="2280505"/>
            <a:ext cx="7334250" cy="282086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F4D1155-8E6C-4340-82BC-A9FFCE116377}"/>
              </a:ext>
            </a:extLst>
          </p:cNvPr>
          <p:cNvSpPr>
            <a:spLocks xmlns:a="http://schemas.openxmlformats.org/drawingml/2006/main" noGrp="1"/>
          </p:cNvSpPr>
          <p:nvPr/>
        </p:nvSpPr>
        <p:spPr>
          <a:xfrm xmlns:a="http://schemas.openxmlformats.org/drawingml/2006/main">
            <a:off x="7905750" y="1381125"/>
            <a:ext cx="342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86"/>
          </a:bodyPr>
          <a:lstStyle xmlns:a="http://schemas.openxmlformats.org/drawingml/2006/main"/>
          <a:p xmlns:a="http://schemas.openxmlformats.org/drawingml/2006/main">
            <a:pPr>
              <a:defRPr sz="1725" b="1">
                <a:solidFill>
                  <a:srgbClr val="17365D"/>
                </a:solidFill>
                <a:latin typeface="Arial"/>
                <a:ea typeface="Arial"/>
                <a:cs typeface="Arial"/>
              </a:defRPr>
            </a:pPr>
            <a:r>
              <a:rPr sz="1725" b="1">
                <a:solidFill>
                  <a:srgbClr val="17365D"/>
                </a:solidFill>
                <a:latin typeface="Arial"/>
                <a:ea typeface="Arial"/>
                <a:cs typeface="Arial"/>
              </a:rPr>
              <a:t>左图是这次最重要的结果。纵轴越低，说明服务器收到的平均更新越接近真实更新。</a:t>
            </a:r>
          </a:p>
        </p:txBody>
      </p:sp>
      <p:sp>
        <p:nvSpPr>
          <p:cNvPr id="6" name="">
            <a:extLst xmlns:a="http://schemas.openxmlformats.org/drawingml/2006/main">
              <a:ext uri="{FF2B5EF4-FFF2-40B4-BE49-F238E27FC236}">
                <a16:creationId xmlns:a16="http://schemas.microsoft.com/office/drawing/2014/main" id="{4533E519-4C0F-4F3F-AAFA-FD992E6A69E8}"/>
              </a:ext>
            </a:extLst>
          </p:cNvPr>
          <p:cNvSpPr>
            <a:spLocks xmlns:a="http://schemas.openxmlformats.org/drawingml/2006/main" noGrp="1"/>
          </p:cNvSpPr>
          <p:nvPr/>
        </p:nvSpPr>
        <p:spPr>
          <a:xfrm xmlns:a="http://schemas.openxmlformats.org/drawingml/2006/main">
            <a:off x="7905750" y="2695575"/>
            <a:ext cx="342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557"/>
          </a:bodyPr>
          <a:lstStyle xmlns:a="http://schemas.openxmlformats.org/drawingml/2006/main"/>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在相同系数个数、相同量化位数下：</a:t>
            </a:r>
          </a:p>
          <a:p xmlns:a="http://schemas.openxmlformats.org/drawingml/2006/main">
            <a:r>
              <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 SRK 作为基准</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 直接 Fourier 基本没有变好</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 两种 Kashin 都更低</a:t>
            </a:r>
          </a:p>
        </p:txBody>
      </p:sp>
      <p:sp>
        <p:nvSpPr>
          <p:cNvPr id="7" name="">
            <a:extLst xmlns:a="http://schemas.openxmlformats.org/drawingml/2006/main">
              <a:ext uri="{FF2B5EF4-FFF2-40B4-BE49-F238E27FC236}">
                <a16:creationId xmlns:a16="http://schemas.microsoft.com/office/drawing/2014/main" id="{2F128E15-A876-4027-A630-CCF80898FAC4}"/>
              </a:ext>
            </a:extLst>
          </p:cNvPr>
          <p:cNvSpPr>
            <a:spLocks xmlns:a="http://schemas.openxmlformats.org/drawingml/2006/main" noGrp="1"/>
          </p:cNvSpPr>
          <p:nvPr/>
        </p:nvSpPr>
        <p:spPr>
          <a:xfrm xmlns:a="http://schemas.openxmlformats.org/drawingml/2006/main">
            <a:off x="7905750" y="4667250"/>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413"/>
          </a:bodyPr>
          <a:lstStyle xmlns:a="http://schemas.openxmlformats.org/drawingml/2006/main"/>
          <a:p xmlns:a="http://schemas.openxmlformats.org/drawingml/2006/main">
            <a:pPr>
              <a:defRPr sz="1725" b="1">
                <a:solidFill>
                  <a:srgbClr val="2E75B6"/>
                </a:solidFill>
                <a:latin typeface="Arial"/>
                <a:ea typeface="Arial"/>
                <a:cs typeface="Arial"/>
              </a:defRPr>
            </a:pPr>
            <a:r>
              <a:rPr sz="1725" b="1">
                <a:solidFill>
                  <a:srgbClr val="2E75B6"/>
                </a:solidFill>
                <a:latin typeface="Arial"/>
                <a:ea typeface="Arial"/>
                <a:cs typeface="Arial"/>
              </a:rPr>
              <a:t>平均看，Kashin 的聚合失真比 SRK 低大约 20%。这说明它的“系数更均匀”确实有作用。</a:t>
            </a:r>
          </a:p>
        </p:txBody>
      </p:sp>
    </p:spTree>
    <p:extLst>
      <p:ext uri="{BB962C8B-B14F-4D97-AF65-F5344CB8AC3E}">
        <p14:creationId xmlns:p14="http://schemas.microsoft.com/office/powerpoint/2010/main" val="6161787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E0DBBA-CF74-4821-B504-81CB68E37C12}"/>
              </a:ext>
            </a:extLst>
          </p:cNvPr>
          <p:cNvSpPr>
            <a:spLocks xmlns:a="http://schemas.openxmlformats.org/drawingml/2006/main" noGrp="1"/>
          </p:cNvSpPr>
          <p:nvPr/>
        </p:nvSpPr>
        <p:spPr>
          <a:xfrm xmlns:a="http://schemas.openxmlformats.org/drawingml/2006/main">
            <a:off x="495300" y="3048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b="1">
                <a:solidFill>
                  <a:srgbClr val="17365D"/>
                </a:solidFill>
                <a:latin typeface="Arial"/>
                <a:ea typeface="Arial"/>
                <a:cs typeface="Arial"/>
              </a:defRPr>
            </a:pPr>
            <a:r>
              <a:rPr sz="2325" b="1">
                <a:solidFill>
                  <a:srgbClr val="17365D"/>
                </a:solidFill>
                <a:latin typeface="Arial"/>
                <a:ea typeface="Arial"/>
                <a:cs typeface="Arial"/>
              </a:rPr>
              <a:t>失真变小，还没有变成稳定的通信优势</a:t>
            </a:r>
          </a:p>
        </p:txBody>
      </p:sp>
      <p:sp>
        <p:nvSpPr>
          <p:cNvPr id="2" name="">
            <a:extLst xmlns:a="http://schemas.openxmlformats.org/drawingml/2006/main">
              <a:ext uri="{FF2B5EF4-FFF2-40B4-BE49-F238E27FC236}">
                <a16:creationId xmlns:a16="http://schemas.microsoft.com/office/drawing/2014/main" id="{E05838F7-8087-4F2F-BA8C-B4786B027387}"/>
              </a:ext>
            </a:extLst>
          </p:cNvPr>
          <p:cNvSpPr>
            <a:spLocks xmlns:a="http://schemas.openxmlformats.org/drawingml/2006/main" noGrp="1"/>
          </p:cNvSpPr>
          <p:nvPr/>
        </p:nvSpPr>
        <p:spPr>
          <a:xfrm xmlns:a="http://schemas.openxmlformats.org/drawingml/2006/main">
            <a:off x="495300" y="885825"/>
            <a:ext cx="11201400" cy="28575"/>
          </a:xfrm>
          <a:prstGeom xmlns:a="http://schemas.openxmlformats.org/drawingml/2006/main" prst="rect">
            <a:avLst/>
          </a:prstGeom>
          <a:solidFill xmlns:a="http://schemas.openxmlformats.org/drawingml/2006/main">
            <a:srgbClr val="2E75B6"/>
          </a:solidFill>
          <a:ln xmlns:a="http://schemas.openxmlformats.org/drawingml/2006/main" w="0">
            <a:solidFill>
              <a:srgbClr val="2E75B6"/>
            </a:solidFill>
          </a:ln>
        </p:spPr>
      </p:sp>
      <p:sp>
        <p:nvSpPr>
          <p:cNvPr id="3" name="">
            <a:extLst xmlns:a="http://schemas.openxmlformats.org/drawingml/2006/main">
              <a:ext uri="{FF2B5EF4-FFF2-40B4-BE49-F238E27FC236}">
                <a16:creationId xmlns:a16="http://schemas.microsoft.com/office/drawing/2014/main" id="{E1F23546-5622-48FB-9DC2-0A0D21A94382}"/>
              </a:ext>
            </a:extLst>
          </p:cNvPr>
          <p:cNvSpPr>
            <a:spLocks xmlns:a="http://schemas.openxmlformats.org/drawingml/2006/main" noGrp="1"/>
          </p:cNvSpPr>
          <p:nvPr/>
        </p:nvSpPr>
        <p:spPr>
          <a:xfrm xmlns:a="http://schemas.openxmlformats.org/drawingml/2006/main">
            <a:off x="1133475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0">
                <a:solidFill>
                  <a:srgbClr val="666666"/>
                </a:solidFill>
                <a:latin typeface="Arial"/>
                <a:ea typeface="Arial"/>
                <a:cs typeface="Arial"/>
              </a:defRPr>
            </a:pPr>
            <a:r>
              <a:rPr sz="975" b="0">
                <a:solidFill>
                  <a:srgbClr val="666666"/>
                </a:solidFill>
                <a:latin typeface="Arial"/>
                <a:ea typeface="Arial"/>
                <a:cs typeface="Arial"/>
              </a:rPr>
              <a:t>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f8c036bd4e64721"/>
          <a:stretch xmlns:a="http://schemas.openxmlformats.org/drawingml/2006/main"/>
        </p:blipFill>
        <p:spPr>
          <a:xfrm xmlns:a="http://schemas.openxmlformats.org/drawingml/2006/main">
            <a:off x="228600" y="2219325"/>
            <a:ext cx="7239000" cy="2895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52B68A4-B69E-4534-9EF4-C50C607C88C2}"/>
              </a:ext>
            </a:extLst>
          </p:cNvPr>
          <p:cNvSpPr>
            <a:spLocks xmlns:a="http://schemas.openxmlformats.org/drawingml/2006/main" noGrp="1"/>
          </p:cNvSpPr>
          <p:nvPr/>
        </p:nvSpPr>
        <p:spPr>
          <a:xfrm xmlns:a="http://schemas.openxmlformats.org/drawingml/2006/main">
            <a:off x="7810500" y="1381125"/>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a:solidFill>
                  <a:srgbClr val="17365D"/>
                </a:solidFill>
                <a:latin typeface="Arial"/>
                <a:ea typeface="Arial"/>
                <a:cs typeface="Arial"/>
              </a:defRPr>
            </a:pPr>
            <a:r>
              <a:rPr sz="1800" b="1">
                <a:solidFill>
                  <a:srgbClr val="17365D"/>
                </a:solidFill>
                <a:latin typeface="Arial"/>
                <a:ea typeface="Arial"/>
                <a:cs typeface="Arial"/>
              </a:rPr>
              <a:t>左边看最终准确率，右边看先到 92% 时用了多少通信。</a:t>
            </a:r>
          </a:p>
        </p:txBody>
      </p:sp>
      <p:sp>
        <p:nvSpPr>
          <p:cNvPr id="6" name="">
            <a:extLst xmlns:a="http://schemas.openxmlformats.org/drawingml/2006/main">
              <a:ext uri="{FF2B5EF4-FFF2-40B4-BE49-F238E27FC236}">
                <a16:creationId xmlns:a16="http://schemas.microsoft.com/office/drawing/2014/main" id="{944C171B-D32D-4D0F-82A6-BDF1728A05B2}"/>
              </a:ext>
            </a:extLst>
          </p:cNvPr>
          <p:cNvSpPr>
            <a:spLocks xmlns:a="http://schemas.openxmlformats.org/drawingml/2006/main" noGrp="1"/>
          </p:cNvSpPr>
          <p:nvPr/>
        </p:nvSpPr>
        <p:spPr>
          <a:xfrm xmlns:a="http://schemas.openxmlformats.org/drawingml/2006/main">
            <a:off x="7810500" y="2476500"/>
            <a:ext cx="3476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旧 Kashin 1-bit 比 SRK 1-bit 平均高 0.144 个百分点。</a:t>
            </a:r>
          </a:p>
          <a:p xmlns:a="http://schemas.openxmlformats.org/drawingml/2006/main">
            <a:r>
              <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但只有 5 个种子，优势很小。</a:t>
            </a:r>
          </a:p>
          <a:p xmlns:a="http://schemas.openxmlformats.org/drawingml/2006/main">
            <a:r>
              <a:t/>
            </a:r>
          </a:p>
          <a:p xmlns:a="http://schemas.openxmlformats.org/drawingml/2006/main">
            <a:pPr>
              <a:defRPr sz="1650" b="0">
                <a:solidFill>
                  <a:srgbClr val="222222"/>
                </a:solidFill>
                <a:latin typeface="Arial"/>
                <a:ea typeface="Arial"/>
                <a:cs typeface="Arial"/>
              </a:defRPr>
            </a:pPr>
            <a:r>
              <a:rPr sz="1650" b="0">
                <a:solidFill>
                  <a:srgbClr val="222222"/>
                </a:solidFill>
                <a:latin typeface="Arial"/>
                <a:ea typeface="Arial"/>
                <a:cs typeface="Arial"/>
              </a:rPr>
              <a:t>新版 Kashin 没有稳定超过旧版。</a:t>
            </a:r>
          </a:p>
        </p:txBody>
      </p:sp>
      <p:sp>
        <p:nvSpPr>
          <p:cNvPr id="7" name="">
            <a:extLst xmlns:a="http://schemas.openxmlformats.org/drawingml/2006/main">
              <a:ext uri="{FF2B5EF4-FFF2-40B4-BE49-F238E27FC236}">
                <a16:creationId xmlns:a16="http://schemas.microsoft.com/office/drawing/2014/main" id="{94F31171-A672-4054-B048-C7627E219C43}"/>
              </a:ext>
            </a:extLst>
          </p:cNvPr>
          <p:cNvSpPr>
            <a:spLocks xmlns:a="http://schemas.openxmlformats.org/drawingml/2006/main" noGrp="1"/>
          </p:cNvSpPr>
          <p:nvPr/>
        </p:nvSpPr>
        <p:spPr>
          <a:xfrm xmlns:a="http://schemas.openxmlformats.org/drawingml/2006/main">
            <a:off x="7810500" y="4514850"/>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288"/>
          </a:bodyPr>
          <a:lstStyle xmlns:a="http://schemas.openxmlformats.org/drawingml/2006/main"/>
          <a:p xmlns:a="http://schemas.openxmlformats.org/drawingml/2006/main">
            <a:pPr>
              <a:defRPr sz="1650" b="1">
                <a:solidFill>
                  <a:srgbClr val="2E75B6"/>
                </a:solidFill>
                <a:latin typeface="Arial"/>
                <a:ea typeface="Arial"/>
                <a:cs typeface="Arial"/>
              </a:defRPr>
            </a:pPr>
            <a:r>
              <a:rPr sz="1650" b="1">
                <a:solidFill>
                  <a:srgbClr val="2E75B6"/>
                </a:solidFill>
                <a:latin typeface="Arial"/>
                <a:ea typeface="Arial"/>
                <a:cs typeface="Arial"/>
              </a:rPr>
              <a:t>到 92% 时，SRK 1-bit 平均 21.2 轮，Kashin 平均 21.8 轮。</a:t>
            </a:r>
          </a:p>
          <a:p xmlns:a="http://schemas.openxmlformats.org/drawingml/2006/main">
            <a:r>
              <a:t/>
            </a:r>
          </a:p>
          <a:p xmlns:a="http://schemas.openxmlformats.org/drawingml/2006/main">
            <a:pPr>
              <a:defRPr sz="1650" b="1">
                <a:solidFill>
                  <a:srgbClr val="2E75B6"/>
                </a:solidFill>
                <a:latin typeface="Arial"/>
                <a:ea typeface="Arial"/>
                <a:cs typeface="Arial"/>
              </a:defRPr>
            </a:pPr>
            <a:r>
              <a:rPr sz="1650" b="1">
                <a:solidFill>
                  <a:srgbClr val="2E75B6"/>
                </a:solidFill>
                <a:latin typeface="Arial"/>
                <a:ea typeface="Arial"/>
                <a:cs typeface="Arial"/>
              </a:rPr>
              <a:t>所以目前还不能说 Kashin 更省通信。</a:t>
            </a:r>
          </a:p>
        </p:txBody>
      </p:sp>
    </p:spTree>
    <p:extLst>
      <p:ext uri="{BB962C8B-B14F-4D97-AF65-F5344CB8AC3E}">
        <p14:creationId xmlns:p14="http://schemas.microsoft.com/office/powerpoint/2010/main" val="3706423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A35C173-8F95-4C4D-9302-5E9ED747A8C5}"/>
              </a:ext>
            </a:extLst>
          </p:cNvPr>
          <p:cNvSpPr>
            <a:spLocks xmlns:a="http://schemas.openxmlformats.org/drawingml/2006/main" noGrp="1"/>
          </p:cNvSpPr>
          <p:nvPr/>
        </p:nvSpPr>
        <p:spPr>
          <a:xfrm xmlns:a="http://schemas.openxmlformats.org/drawingml/2006/main">
            <a:off x="495300" y="3048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325" b="1">
                <a:solidFill>
                  <a:srgbClr val="17365D"/>
                </a:solidFill>
                <a:latin typeface="Arial"/>
                <a:ea typeface="Arial"/>
                <a:cs typeface="Arial"/>
              </a:defRPr>
            </a:pPr>
            <a:r>
              <a:rPr sz="2325" b="1">
                <a:solidFill>
                  <a:srgbClr val="17365D"/>
                </a:solidFill>
                <a:latin typeface="Arial"/>
                <a:ea typeface="Arial"/>
                <a:cs typeface="Arial"/>
              </a:rPr>
              <a:t>两篇文献怎么做，和我有什么不同</a:t>
            </a:r>
          </a:p>
        </p:txBody>
      </p:sp>
      <p:sp>
        <p:nvSpPr>
          <p:cNvPr id="2" name="">
            <a:extLst xmlns:a="http://schemas.openxmlformats.org/drawingml/2006/main">
              <a:ext uri="{FF2B5EF4-FFF2-40B4-BE49-F238E27FC236}">
                <a16:creationId xmlns:a16="http://schemas.microsoft.com/office/drawing/2014/main" id="{54E2694B-8853-4DB9-A347-6D4042CA660F}"/>
              </a:ext>
            </a:extLst>
          </p:cNvPr>
          <p:cNvSpPr>
            <a:spLocks xmlns:a="http://schemas.openxmlformats.org/drawingml/2006/main" noGrp="1"/>
          </p:cNvSpPr>
          <p:nvPr/>
        </p:nvSpPr>
        <p:spPr>
          <a:xfrm xmlns:a="http://schemas.openxmlformats.org/drawingml/2006/main">
            <a:off x="495300" y="885825"/>
            <a:ext cx="11201400" cy="28575"/>
          </a:xfrm>
          <a:prstGeom xmlns:a="http://schemas.openxmlformats.org/drawingml/2006/main" prst="rect">
            <a:avLst/>
          </a:prstGeom>
          <a:solidFill xmlns:a="http://schemas.openxmlformats.org/drawingml/2006/main">
            <a:srgbClr val="2E75B6"/>
          </a:solidFill>
          <a:ln xmlns:a="http://schemas.openxmlformats.org/drawingml/2006/main" w="0">
            <a:solidFill>
              <a:srgbClr val="2E75B6"/>
            </a:solidFill>
          </a:ln>
        </p:spPr>
      </p:sp>
      <p:sp>
        <p:nvSpPr>
          <p:cNvPr id="3" name="">
            <a:extLst xmlns:a="http://schemas.openxmlformats.org/drawingml/2006/main">
              <a:ext uri="{FF2B5EF4-FFF2-40B4-BE49-F238E27FC236}">
                <a16:creationId xmlns:a16="http://schemas.microsoft.com/office/drawing/2014/main" id="{BABF10EF-8037-476A-AF9C-B1489F489C72}"/>
              </a:ext>
            </a:extLst>
          </p:cNvPr>
          <p:cNvSpPr>
            <a:spLocks xmlns:a="http://schemas.openxmlformats.org/drawingml/2006/main" noGrp="1"/>
          </p:cNvSpPr>
          <p:nvPr/>
        </p:nvSpPr>
        <p:spPr>
          <a:xfrm xmlns:a="http://schemas.openxmlformats.org/drawingml/2006/main">
            <a:off x="11334750" y="6419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defRPr sz="975" b="0">
                <a:solidFill>
                  <a:srgbClr val="666666"/>
                </a:solidFill>
                <a:latin typeface="Arial"/>
                <a:ea typeface="Arial"/>
                <a:cs typeface="Arial"/>
              </a:defRPr>
            </a:pPr>
            <a:r>
              <a:rPr sz="975" b="0">
                <a:solidFill>
                  <a:srgbClr val="666666"/>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56B00AD9-ED8B-4461-BC0A-2537736612F2}"/>
              </a:ext>
            </a:extLst>
          </p:cNvPr>
          <p:cNvSpPr>
            <a:spLocks xmlns:a="http://schemas.openxmlformats.org/drawingml/2006/main" noGrp="1"/>
          </p:cNvSpPr>
          <p:nvPr/>
        </p:nvSpPr>
        <p:spPr>
          <a:xfrm xmlns:a="http://schemas.openxmlformats.org/drawingml/2006/main">
            <a:off x="400050" y="1276350"/>
            <a:ext cx="3476625" cy="4333875"/>
          </a:xfrm>
          <a:prstGeom xmlns:a="http://schemas.openxmlformats.org/drawingml/2006/main" prst="rect">
            <a:avLst/>
          </a:prstGeom>
          <a:solidFill xmlns:a="http://schemas.openxmlformats.org/drawingml/2006/main">
            <a:srgbClr val="EEF4FA"/>
          </a:solidFill>
          <a:ln xmlns:a="http://schemas.openxmlformats.org/drawingml/2006/main" w="9525">
            <a:solidFill>
              <a:srgbClr val="BCD3E6"/>
            </a:solidFill>
          </a:ln>
        </p:spPr>
      </p:sp>
      <p:sp>
        <p:nvSpPr>
          <p:cNvPr id="5" name="">
            <a:extLst xmlns:a="http://schemas.openxmlformats.org/drawingml/2006/main">
              <a:ext uri="{FF2B5EF4-FFF2-40B4-BE49-F238E27FC236}">
                <a16:creationId xmlns:a16="http://schemas.microsoft.com/office/drawing/2014/main" id="{6AE00A6D-C3B5-4287-9135-02028B118D1B}"/>
              </a:ext>
            </a:extLst>
          </p:cNvPr>
          <p:cNvSpPr>
            <a:spLocks xmlns:a="http://schemas.openxmlformats.org/drawingml/2006/main" noGrp="1"/>
          </p:cNvSpPr>
          <p:nvPr/>
        </p:nvSpPr>
        <p:spPr>
          <a:xfrm xmlns:a="http://schemas.openxmlformats.org/drawingml/2006/main">
            <a:off x="4352925" y="1276350"/>
            <a:ext cx="3476625" cy="4333875"/>
          </a:xfrm>
          <a:prstGeom xmlns:a="http://schemas.openxmlformats.org/drawingml/2006/main" prst="rect">
            <a:avLst/>
          </a:prstGeom>
          <a:solidFill xmlns:a="http://schemas.openxmlformats.org/drawingml/2006/main">
            <a:srgbClr val="FFFFFF"/>
          </a:solidFill>
          <a:ln xmlns:a="http://schemas.openxmlformats.org/drawingml/2006/main" w="9525">
            <a:solidFill>
              <a:srgbClr val="BCD3E6"/>
            </a:solidFill>
          </a:ln>
        </p:spPr>
      </p:sp>
      <p:sp>
        <p:nvSpPr>
          <p:cNvPr id="6" name="">
            <a:extLst xmlns:a="http://schemas.openxmlformats.org/drawingml/2006/main">
              <a:ext uri="{FF2B5EF4-FFF2-40B4-BE49-F238E27FC236}">
                <a16:creationId xmlns:a16="http://schemas.microsoft.com/office/drawing/2014/main" id="{3286FD6F-DC5B-4506-B528-F4772FA2AC21}"/>
              </a:ext>
            </a:extLst>
          </p:cNvPr>
          <p:cNvSpPr>
            <a:spLocks xmlns:a="http://schemas.openxmlformats.org/drawingml/2006/main" noGrp="1"/>
          </p:cNvSpPr>
          <p:nvPr/>
        </p:nvSpPr>
        <p:spPr>
          <a:xfrm xmlns:a="http://schemas.openxmlformats.org/drawingml/2006/main">
            <a:off x="8305800" y="1276350"/>
            <a:ext cx="3476625" cy="4333875"/>
          </a:xfrm>
          <a:prstGeom xmlns:a="http://schemas.openxmlformats.org/drawingml/2006/main" prst="rect">
            <a:avLst/>
          </a:prstGeom>
          <a:solidFill xmlns:a="http://schemas.openxmlformats.org/drawingml/2006/main">
            <a:srgbClr val="EEF4FA"/>
          </a:solidFill>
          <a:ln xmlns:a="http://schemas.openxmlformats.org/drawingml/2006/main" w="9525">
            <a:solidFill>
              <a:srgbClr val="BCD3E6"/>
            </a:solidFill>
          </a:ln>
        </p:spPr>
      </p:sp>
      <p:sp>
        <p:nvSpPr>
          <p:cNvPr id="7" name="">
            <a:extLst xmlns:a="http://schemas.openxmlformats.org/drawingml/2006/main">
              <a:ext uri="{FF2B5EF4-FFF2-40B4-BE49-F238E27FC236}">
                <a16:creationId xmlns:a16="http://schemas.microsoft.com/office/drawing/2014/main" id="{747288F6-5EE3-43CF-A15B-EBA1A1999969}"/>
              </a:ext>
            </a:extLst>
          </p:cNvPr>
          <p:cNvSpPr>
            <a:spLocks xmlns:a="http://schemas.openxmlformats.org/drawingml/2006/main" noGrp="1"/>
          </p:cNvSpPr>
          <p:nvPr/>
        </p:nvSpPr>
        <p:spPr>
          <a:xfrm xmlns:a="http://schemas.openxmlformats.org/drawingml/2006/main">
            <a:off x="638175" y="151447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136"/>
          </a:bodyPr>
          <a:lstStyle xmlns:a="http://schemas.openxmlformats.org/drawingml/2006/main"/>
          <a:p xmlns:a="http://schemas.openxmlformats.org/drawingml/2006/main">
            <a:pPr>
              <a:defRPr sz="2025" b="1">
                <a:solidFill>
                  <a:srgbClr val="17365D"/>
                </a:solidFill>
                <a:latin typeface="Arial"/>
                <a:ea typeface="Arial"/>
                <a:cs typeface="Arial"/>
              </a:defRPr>
            </a:pPr>
            <a:r>
              <a:rPr sz="2025" b="1">
                <a:solidFill>
                  <a:srgbClr val="17365D"/>
                </a:solidFill>
                <a:latin typeface="Arial"/>
                <a:ea typeface="Arial"/>
                <a:cs typeface="Arial"/>
              </a:rPr>
              <a:t>DRIVE</a:t>
            </a:r>
          </a:p>
        </p:txBody>
      </p:sp>
      <p:sp>
        <p:nvSpPr>
          <p:cNvPr id="8" name="">
            <a:extLst xmlns:a="http://schemas.openxmlformats.org/drawingml/2006/main">
              <a:ext uri="{FF2B5EF4-FFF2-40B4-BE49-F238E27FC236}">
                <a16:creationId xmlns:a16="http://schemas.microsoft.com/office/drawing/2014/main" id="{8459A84E-04F1-480F-876A-96B144659C6F}"/>
              </a:ext>
            </a:extLst>
          </p:cNvPr>
          <p:cNvSpPr>
            <a:spLocks xmlns:a="http://schemas.openxmlformats.org/drawingml/2006/main" noGrp="1"/>
          </p:cNvSpPr>
          <p:nvPr/>
        </p:nvSpPr>
        <p:spPr>
          <a:xfrm xmlns:a="http://schemas.openxmlformats.org/drawingml/2006/main">
            <a:off x="638175" y="1924050"/>
            <a:ext cx="300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NeurIPS 2021</a:t>
            </a:r>
          </a:p>
        </p:txBody>
      </p:sp>
      <p:sp>
        <p:nvSpPr>
          <p:cNvPr id="9" name="">
            <a:extLst xmlns:a="http://schemas.openxmlformats.org/drawingml/2006/main">
              <a:ext uri="{FF2B5EF4-FFF2-40B4-BE49-F238E27FC236}">
                <a16:creationId xmlns:a16="http://schemas.microsoft.com/office/drawing/2014/main" id="{EFA4EF6C-EFA2-4AD6-8D50-8F345D5B6C48}"/>
              </a:ext>
            </a:extLst>
          </p:cNvPr>
          <p:cNvSpPr>
            <a:spLocks xmlns:a="http://schemas.openxmlformats.org/drawingml/2006/main" noGrp="1"/>
          </p:cNvSpPr>
          <p:nvPr/>
        </p:nvSpPr>
        <p:spPr>
          <a:xfrm xmlns:a="http://schemas.openxmlformats.org/drawingml/2006/main">
            <a:off x="638175" y="2457450"/>
            <a:ext cx="3000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37"/>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1. 先测 1-bit 平均更新的 NMSE</a:t>
            </a:r>
          </a:p>
          <a:p xmlns:a="http://schemas.openxmlformats.org/drawingml/2006/main">
            <a:r>
              <a:t/>
            </a:r>
          </a:p>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2. 再测 NMSE 和编码时间</a:t>
            </a:r>
          </a:p>
          <a:p xmlns:a="http://schemas.openxmlformats.org/drawingml/2006/main">
            <a:r>
              <a:t/>
            </a:r>
          </a:p>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3. 最后画联邦学习的“准确率-轮数”</a:t>
            </a:r>
          </a:p>
          <a:p xmlns:a="http://schemas.openxmlformats.org/drawingml/2006/main">
            <a:r>
              <a:t/>
            </a:r>
          </a:p>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4. 对比 FedAvg、Hadamard、Kashin</a:t>
            </a:r>
          </a:p>
        </p:txBody>
      </p:sp>
      <p:sp>
        <p:nvSpPr>
          <p:cNvPr id="10" name="">
            <a:extLst xmlns:a="http://schemas.openxmlformats.org/drawingml/2006/main">
              <a:ext uri="{FF2B5EF4-FFF2-40B4-BE49-F238E27FC236}">
                <a16:creationId xmlns:a16="http://schemas.microsoft.com/office/drawing/2014/main" id="{56F1A940-7F86-4C8B-9180-729606E28C16}"/>
              </a:ext>
            </a:extLst>
          </p:cNvPr>
          <p:cNvSpPr>
            <a:spLocks xmlns:a="http://schemas.openxmlformats.org/drawingml/2006/main" noGrp="1"/>
          </p:cNvSpPr>
          <p:nvPr/>
        </p:nvSpPr>
        <p:spPr>
          <a:xfrm xmlns:a="http://schemas.openxmlformats.org/drawingml/2006/main">
            <a:off x="638175" y="49053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a:solidFill>
                  <a:srgbClr val="2E75B6"/>
                </a:solidFill>
                <a:latin typeface="Arial"/>
                <a:ea typeface="Arial"/>
                <a:cs typeface="Arial"/>
              </a:defRPr>
            </a:pPr>
            <a:r>
              <a:rPr sz="1500" b="1">
                <a:solidFill>
                  <a:srgbClr val="2E75B6"/>
                </a:solidFill>
                <a:latin typeface="Arial"/>
                <a:ea typeface="Arial"/>
                <a:cs typeface="Arial"/>
              </a:rPr>
              <a:t>重点：严格约 1 bit/维度。</a:t>
            </a:r>
          </a:p>
        </p:txBody>
      </p:sp>
      <p:sp>
        <p:nvSpPr>
          <p:cNvPr id="11" name="">
            <a:extLst xmlns:a="http://schemas.openxmlformats.org/drawingml/2006/main">
              <a:ext uri="{FF2B5EF4-FFF2-40B4-BE49-F238E27FC236}">
                <a16:creationId xmlns:a16="http://schemas.microsoft.com/office/drawing/2014/main" id="{A92CE168-08DB-4FB8-BFAA-95CBD3DE59E3}"/>
              </a:ext>
            </a:extLst>
          </p:cNvPr>
          <p:cNvSpPr>
            <a:spLocks xmlns:a="http://schemas.openxmlformats.org/drawingml/2006/main" noGrp="1"/>
          </p:cNvSpPr>
          <p:nvPr/>
        </p:nvSpPr>
        <p:spPr>
          <a:xfrm xmlns:a="http://schemas.openxmlformats.org/drawingml/2006/main">
            <a:off x="4591050" y="151447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136"/>
          </a:bodyPr>
          <a:lstStyle xmlns:a="http://schemas.openxmlformats.org/drawingml/2006/main"/>
          <a:p xmlns:a="http://schemas.openxmlformats.org/drawingml/2006/main">
            <a:pPr>
              <a:defRPr sz="2025" b="1">
                <a:solidFill>
                  <a:srgbClr val="17365D"/>
                </a:solidFill>
                <a:latin typeface="Arial"/>
                <a:ea typeface="Arial"/>
                <a:cs typeface="Arial"/>
              </a:defRPr>
            </a:pPr>
            <a:r>
              <a:rPr sz="2025" b="1">
                <a:solidFill>
                  <a:srgbClr val="17365D"/>
                </a:solidFill>
                <a:latin typeface="Arial"/>
                <a:ea typeface="Arial"/>
                <a:cs typeface="Arial"/>
              </a:rPr>
              <a:t>Saha 等</a:t>
            </a:r>
          </a:p>
        </p:txBody>
      </p:sp>
      <p:sp>
        <p:nvSpPr>
          <p:cNvPr id="12" name="">
            <a:extLst xmlns:a="http://schemas.openxmlformats.org/drawingml/2006/main">
              <a:ext uri="{FF2B5EF4-FFF2-40B4-BE49-F238E27FC236}">
                <a16:creationId xmlns:a16="http://schemas.microsoft.com/office/drawing/2014/main" id="{333F789B-ECC0-4D9E-8CA0-6E9744580FAC}"/>
              </a:ext>
            </a:extLst>
          </p:cNvPr>
          <p:cNvSpPr>
            <a:spLocks xmlns:a="http://schemas.openxmlformats.org/drawingml/2006/main" noGrp="1"/>
          </p:cNvSpPr>
          <p:nvPr/>
        </p:nvSpPr>
        <p:spPr>
          <a:xfrm xmlns:a="http://schemas.openxmlformats.org/drawingml/2006/main">
            <a:off x="4591050" y="1924050"/>
            <a:ext cx="300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IEEE JSAIT，2022</a:t>
            </a:r>
          </a:p>
        </p:txBody>
      </p:sp>
      <p:sp>
        <p:nvSpPr>
          <p:cNvPr id="13" name="">
            <a:extLst xmlns:a="http://schemas.openxmlformats.org/drawingml/2006/main">
              <a:ext uri="{FF2B5EF4-FFF2-40B4-BE49-F238E27FC236}">
                <a16:creationId xmlns:a16="http://schemas.microsoft.com/office/drawing/2014/main" id="{AFE2F3A1-252D-418C-8F9F-4F3042EF8083}"/>
              </a:ext>
            </a:extLst>
          </p:cNvPr>
          <p:cNvSpPr>
            <a:spLocks xmlns:a="http://schemas.openxmlformats.org/drawingml/2006/main" noGrp="1"/>
          </p:cNvSpPr>
          <p:nvPr/>
        </p:nvSpPr>
        <p:spPr>
          <a:xfrm xmlns:a="http://schemas.openxmlformats.org/drawingml/2006/main">
            <a:off x="4591050" y="2457450"/>
            <a:ext cx="3000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1. 量化误差和每维 bit</a:t>
            </a:r>
          </a:p>
          <a:p xmlns:a="http://schemas.openxmlformats.org/drawingml/2006/main">
            <a:r>
              <a:t/>
            </a:r>
          </a:p>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2. 收敛速度和每维 bit</a:t>
            </a:r>
          </a:p>
          <a:p xmlns:a="http://schemas.openxmlformats.org/drawingml/2006/main">
            <a:r>
              <a:t/>
            </a:r>
          </a:p>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3. 计算时间和向量维度</a:t>
            </a:r>
          </a:p>
          <a:p xmlns:a="http://schemas.openxmlformats.org/drawingml/2006/main">
            <a:r>
              <a:t/>
            </a:r>
          </a:p>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4. SVM 分类错误率、CIFAR-10 准确率</a:t>
            </a:r>
          </a:p>
        </p:txBody>
      </p:sp>
      <p:sp>
        <p:nvSpPr>
          <p:cNvPr id="14" name="">
            <a:extLst xmlns:a="http://schemas.openxmlformats.org/drawingml/2006/main">
              <a:ext uri="{FF2B5EF4-FFF2-40B4-BE49-F238E27FC236}">
                <a16:creationId xmlns:a16="http://schemas.microsoft.com/office/drawing/2014/main" id="{0A0D1376-E953-442C-BFD0-BAB8FF3CC118}"/>
              </a:ext>
            </a:extLst>
          </p:cNvPr>
          <p:cNvSpPr>
            <a:spLocks xmlns:a="http://schemas.openxmlformats.org/drawingml/2006/main" noGrp="1"/>
          </p:cNvSpPr>
          <p:nvPr/>
        </p:nvSpPr>
        <p:spPr>
          <a:xfrm xmlns:a="http://schemas.openxmlformats.org/drawingml/2006/main">
            <a:off x="4591050" y="49053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a:solidFill>
                  <a:srgbClr val="2E75B6"/>
                </a:solidFill>
                <a:latin typeface="Arial"/>
                <a:ea typeface="Arial"/>
                <a:cs typeface="Arial"/>
              </a:defRPr>
            </a:pPr>
            <a:r>
              <a:rPr sz="1500" b="1">
                <a:solidFill>
                  <a:srgbClr val="2E75B6"/>
                </a:solidFill>
                <a:latin typeface="Arial"/>
                <a:ea typeface="Arial"/>
                <a:cs typeface="Arial"/>
              </a:rPr>
              <a:t>重点：固定 bit 预算比较方法。</a:t>
            </a:r>
          </a:p>
        </p:txBody>
      </p:sp>
      <p:sp>
        <p:nvSpPr>
          <p:cNvPr id="15" name="">
            <a:extLst xmlns:a="http://schemas.openxmlformats.org/drawingml/2006/main">
              <a:ext uri="{FF2B5EF4-FFF2-40B4-BE49-F238E27FC236}">
                <a16:creationId xmlns:a16="http://schemas.microsoft.com/office/drawing/2014/main" id="{AD402D08-DD36-488D-9B24-FD462F9C547C}"/>
              </a:ext>
            </a:extLst>
          </p:cNvPr>
          <p:cNvSpPr>
            <a:spLocks xmlns:a="http://schemas.openxmlformats.org/drawingml/2006/main" noGrp="1"/>
          </p:cNvSpPr>
          <p:nvPr/>
        </p:nvSpPr>
        <p:spPr>
          <a:xfrm xmlns:a="http://schemas.openxmlformats.org/drawingml/2006/main">
            <a:off x="8543925" y="151447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136"/>
          </a:bodyPr>
          <a:lstStyle xmlns:a="http://schemas.openxmlformats.org/drawingml/2006/main"/>
          <a:p xmlns:a="http://schemas.openxmlformats.org/drawingml/2006/main">
            <a:pPr>
              <a:defRPr sz="2025" b="1">
                <a:solidFill>
                  <a:srgbClr val="17365D"/>
                </a:solidFill>
                <a:latin typeface="Arial"/>
                <a:ea typeface="Arial"/>
                <a:cs typeface="Arial"/>
              </a:defRPr>
            </a:pPr>
            <a:r>
              <a:rPr sz="2025" b="1">
                <a:solidFill>
                  <a:srgbClr val="17365D"/>
                </a:solidFill>
                <a:latin typeface="Arial"/>
                <a:ea typeface="Arial"/>
                <a:cs typeface="Arial"/>
              </a:rPr>
              <a:t>我现在的实验</a:t>
            </a:r>
          </a:p>
        </p:txBody>
      </p:sp>
      <p:sp>
        <p:nvSpPr>
          <p:cNvPr id="16" name="">
            <a:extLst xmlns:a="http://schemas.openxmlformats.org/drawingml/2006/main">
              <a:ext uri="{FF2B5EF4-FFF2-40B4-BE49-F238E27FC236}">
                <a16:creationId xmlns:a16="http://schemas.microsoft.com/office/drawing/2014/main" id="{4C83FB37-6348-4BC6-8EB3-542A79AFA687}"/>
              </a:ext>
            </a:extLst>
          </p:cNvPr>
          <p:cNvSpPr>
            <a:spLocks xmlns:a="http://schemas.openxmlformats.org/drawingml/2006/main" noGrp="1"/>
          </p:cNvSpPr>
          <p:nvPr/>
        </p:nvSpPr>
        <p:spPr>
          <a:xfrm xmlns:a="http://schemas.openxmlformats.org/drawingml/2006/main">
            <a:off x="8543925" y="1924050"/>
            <a:ext cx="300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MNIST + MLP，2026.09</a:t>
            </a:r>
          </a:p>
        </p:txBody>
      </p:sp>
      <p:sp>
        <p:nvSpPr>
          <p:cNvPr id="17" name="">
            <a:extLst xmlns:a="http://schemas.openxmlformats.org/drawingml/2006/main">
              <a:ext uri="{FF2B5EF4-FFF2-40B4-BE49-F238E27FC236}">
                <a16:creationId xmlns:a16="http://schemas.microsoft.com/office/drawing/2014/main" id="{A9A9D907-DA30-45DA-8C6A-E0FB35373389}"/>
              </a:ext>
            </a:extLst>
          </p:cNvPr>
          <p:cNvSpPr>
            <a:spLocks xmlns:a="http://schemas.openxmlformats.org/drawingml/2006/main" noGrp="1"/>
          </p:cNvSpPr>
          <p:nvPr/>
        </p:nvSpPr>
        <p:spPr>
          <a:xfrm xmlns:a="http://schemas.openxmlformats.org/drawingml/2006/main">
            <a:off x="8543925" y="2457450"/>
            <a:ext cx="3000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1. 保存同一批真实客户端更新</a:t>
            </a:r>
          </a:p>
          <a:p xmlns:a="http://schemas.openxmlformats.org/drawingml/2006/main">
            <a:r>
              <a:t/>
            </a:r>
          </a:p>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2. 测聚合 NMSE</a:t>
            </a:r>
          </a:p>
          <a:p xmlns:a="http://schemas.openxmlformats.org/drawingml/2006/main">
            <a:r>
              <a:t/>
            </a:r>
          </a:p>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3. 5 个种子，测准确率和通信</a:t>
            </a:r>
          </a:p>
          <a:p xmlns:a="http://schemas.openxmlformats.org/drawingml/2006/main">
            <a:r>
              <a:t/>
            </a:r>
          </a:p>
          <a:p xmlns:a="http://schemas.openxmlformats.org/drawingml/2006/main">
            <a:pPr>
              <a:defRPr sz="1500" b="0">
                <a:solidFill>
                  <a:srgbClr val="222222"/>
                </a:solidFill>
                <a:latin typeface="Arial"/>
                <a:ea typeface="Arial"/>
                <a:cs typeface="Arial"/>
              </a:defRPr>
            </a:pPr>
            <a:r>
              <a:rPr sz="1500" b="0">
                <a:solidFill>
                  <a:srgbClr val="222222"/>
                </a:solidFill>
                <a:latin typeface="Arial"/>
                <a:ea typeface="Arial"/>
                <a:cs typeface="Arial"/>
              </a:rPr>
              <a:t>4. 再研究小范围 λ 是否值得</a:t>
            </a:r>
          </a:p>
        </p:txBody>
      </p:sp>
      <p:sp>
        <p:nvSpPr>
          <p:cNvPr id="18" name="">
            <a:extLst xmlns:a="http://schemas.openxmlformats.org/drawingml/2006/main">
              <a:ext uri="{FF2B5EF4-FFF2-40B4-BE49-F238E27FC236}">
                <a16:creationId xmlns:a16="http://schemas.microsoft.com/office/drawing/2014/main" id="{FB6D20F2-BD64-4CBC-9FE2-85C6695D60F0}"/>
              </a:ext>
            </a:extLst>
          </p:cNvPr>
          <p:cNvSpPr>
            <a:spLocks xmlns:a="http://schemas.openxmlformats.org/drawingml/2006/main" noGrp="1"/>
          </p:cNvSpPr>
          <p:nvPr/>
        </p:nvSpPr>
        <p:spPr>
          <a:xfrm xmlns:a="http://schemas.openxmlformats.org/drawingml/2006/main">
            <a:off x="8543925" y="49053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437"/>
          </a:bodyPr>
          <a:lstStyle xmlns:a="http://schemas.openxmlformats.org/drawingml/2006/main"/>
          <a:p xmlns:a="http://schemas.openxmlformats.org/drawingml/2006/main">
            <a:pPr>
              <a:defRPr sz="1500" b="1">
                <a:solidFill>
                  <a:srgbClr val="2E75B6"/>
                </a:solidFill>
                <a:latin typeface="Arial"/>
                <a:ea typeface="Arial"/>
                <a:cs typeface="Arial"/>
              </a:defRPr>
            </a:pPr>
            <a:r>
              <a:rPr sz="1500" b="1">
                <a:solidFill>
                  <a:srgbClr val="2E75B6"/>
                </a:solidFill>
                <a:latin typeface="Arial"/>
                <a:ea typeface="Arial"/>
                <a:cs typeface="Arial"/>
              </a:rPr>
              <a:t>重点：同输入下测 Fourier-Kashin。</a:t>
            </a:r>
          </a:p>
        </p:txBody>
      </p:sp>
      <p:sp>
        <p:nvSpPr>
          <p:cNvPr id="19" name="">
            <a:extLst xmlns:a="http://schemas.openxmlformats.org/drawingml/2006/main">
              <a:ext uri="{FF2B5EF4-FFF2-40B4-BE49-F238E27FC236}">
                <a16:creationId xmlns:a16="http://schemas.microsoft.com/office/drawing/2014/main" id="{71EAE39A-2961-4AFD-BAB6-9A20D1B8C03F}"/>
              </a:ext>
            </a:extLst>
          </p:cNvPr>
          <p:cNvSpPr>
            <a:spLocks xmlns:a="http://schemas.openxmlformats.org/drawingml/2006/main" noGrp="1"/>
          </p:cNvSpPr>
          <p:nvPr/>
        </p:nvSpPr>
        <p:spPr>
          <a:xfrm xmlns:a="http://schemas.openxmlformats.org/drawingml/2006/main">
            <a:off x="714375" y="60007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1">
                <a:solidFill>
                  <a:srgbClr val="17365D"/>
                </a:solidFill>
                <a:latin typeface="Arial"/>
                <a:ea typeface="Arial"/>
                <a:cs typeface="Arial"/>
              </a:defRPr>
            </a:pPr>
            <a:r>
              <a:rPr sz="1650" b="1">
                <a:solidFill>
                  <a:srgbClr val="17365D"/>
                </a:solidFill>
                <a:latin typeface="Arial"/>
                <a:ea typeface="Arial"/>
                <a:cs typeface="Arial"/>
              </a:rPr>
              <a:t>我的不同点：先把真实联邦更新固定住，再看压缩失真是否真的能变成准确率或通信优势。</a:t>
            </a:r>
          </a:p>
        </p:txBody>
      </p:sp>
    </p:spTree>
    <p:extLst>
      <p:ext uri="{BB962C8B-B14F-4D97-AF65-F5344CB8AC3E}">
        <p14:creationId xmlns:p14="http://schemas.microsoft.com/office/powerpoint/2010/main" val="12705128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2026-09-20T07:36:40.7730000Z</dcterms:created>
  <dcterms:modified xsi:type="dcterms:W3CDTF">2026-09-20T07:36:40.7730000Z</dcterms:modified>
</coreProperties>
</file>