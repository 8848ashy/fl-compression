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23B73-C608-E588-F38A-E8EAAC616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AC13F1-7913-5FFA-2DD0-3D0B46B9B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797AB6-DF9F-5D28-F67F-D72C40C0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006B14-60D4-4C60-7EB9-11CFD23D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36C85-630A-EF83-14FA-8DAFBAE9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19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6CA2D-E925-45FD-3F26-B7DFAC53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D62707-D005-6B27-04B8-879032EE3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1986D-435E-2B43-35DB-D1100036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D45CFE-B80B-0E69-7EC3-A791F7A3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A98F5-C33B-B06D-D563-3BDED2CA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8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87D71-6D03-8D67-8589-AECB7E3F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3A655-053E-34F8-7237-0ABCD8A6B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A4074B-0426-CEE1-6857-CF5DFC87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6655D-9AE3-D154-6ECF-F32B9E62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F4DE40-F472-35D2-6153-EE3AED2F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47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0E364-A8EC-E20A-9687-C4A2EDFE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8D4EF7-B150-8C07-6EA7-67E1B49F8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F58748-71BA-B1A2-D8A5-72CEFE95E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BE4F9B-BF3F-CB17-0B9B-6E3895E53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F0832D-299D-40A6-D82E-B98F7D19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27C3D-351A-2500-D07D-98C71A48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12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3FBD8-9A51-E647-EDED-EBE627F3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CDD159-580D-4F0B-F582-BEF5DC125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74DB79-F563-2B27-FD6D-1602A784C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E55115-9FDB-B7FE-28C3-46383CD53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44C4E8-5E2C-DBE3-7567-CE755EE20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B54BF4-ABD1-7F6C-46B9-1A8610F7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72DD03-565F-0435-F474-7E6652B5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994963-55E1-518B-1102-C50709F9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CDB49-5C36-7ECA-CED0-28A4014C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C7253C-65A4-D133-E8B4-36AD7847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236E62-9861-1E22-A157-95404A1A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40D596-1A52-904C-786D-FDF8B76C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37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1F37F9-1834-1C48-E8F5-E625350A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A50E30-A72A-48AF-3AD8-5F51F065E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0B0A0F-772C-096E-E29F-D86DA871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12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5B192-F572-C88C-767F-8BAD6373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7C79B-646F-D8BF-48D3-678098D0A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DE904B-F93A-6B94-5BC5-F5BCE56BD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0E483A-75E2-FE13-462B-76C66166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8C5E64-4AF9-DB40-552F-6486F8004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290810-74F8-2B4E-D13D-1DE32BEF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8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55059-4076-A8B7-E220-7B404FAD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4EB37B-A5F2-0677-0640-C56CF5F79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395F06-6EB1-5182-170A-25F1D4155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5B68A8-5083-9A51-0399-1CD89772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954364-DCFA-FED4-C563-33CC0CF5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7BDDA4-7291-CD5A-E7BD-4FE31DC2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353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7CBFD-1FB7-D986-F3AC-DB839626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D27DAE-EB82-1324-9252-5DA172F1B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D9A8B1-EB55-1AF8-1C62-8E11F4F6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05952E-5079-ED1A-A601-04693B02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0A72E6-8467-19A9-A79D-F82B7517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69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97F2A7-9896-3A48-4487-35AE16569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4D5284-9FB9-4EC6-60B8-8C8302F7C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B45B39-6C77-D176-772E-9A6DD4F9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A5A38B-BEE2-4660-2EEF-2BB1DD52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594C8A-E30C-477A-BBF9-48FB60D5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58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468C64-9F4A-8E22-94CD-AEF7EA8D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4079E2-9DA4-6461-A89D-142A1CDCC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92A5AC-9434-A6F1-ADBB-1B18D27BB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2B460-F322-42B5-9AEE-94A181974738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806644-9000-5F3C-B4BD-73245767B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BA23B5-CA53-34D3-455B-0698B84EF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B40AA-6055-4921-876C-683D0D7EA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81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8ECB-CDCE-C993-B18F-0DFBDA23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EA951-1043-5ADC-EE82-23395D0D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1.Kashin transform</a:t>
            </a:r>
            <a:r>
              <a:rPr lang="zh-CN" altLang="en-US" sz="2800" dirty="0"/>
              <a:t>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608CF4-1DC7-7E1C-7C91-4E20F2102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/>
              <a:t>参考</a:t>
            </a:r>
            <a:r>
              <a:rPr lang="en-US" altLang="zh-CN" sz="1800" dirty="0"/>
              <a:t>Uncertainty Principle for Communication Compression in Distributed and Federated Learning and the Search for an Optimal Compressor</a:t>
            </a:r>
          </a:p>
          <a:p>
            <a:pPr marL="0" indent="0">
              <a:buNone/>
            </a:pPr>
            <a:r>
              <a:rPr lang="zh-CN" altLang="en-US" sz="1800" dirty="0"/>
              <a:t>利用</a:t>
            </a:r>
            <a:r>
              <a:rPr lang="en-US" altLang="zh-CN" sz="1800" dirty="0" err="1"/>
              <a:t>fourier</a:t>
            </a:r>
            <a:r>
              <a:rPr lang="en-US" altLang="zh-CN" sz="1800" dirty="0"/>
              <a:t> frame</a:t>
            </a:r>
            <a:r>
              <a:rPr lang="zh-CN" altLang="en-US" sz="1800" dirty="0"/>
              <a:t>构造扩展维度，可以使用</a:t>
            </a:r>
            <a:r>
              <a:rPr lang="en-US" altLang="zh-CN" sz="1800" dirty="0" err="1"/>
              <a:t>fft</a:t>
            </a:r>
            <a:r>
              <a:rPr lang="zh-CN" altLang="en-US" sz="1800" dirty="0"/>
              <a:t>计算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仍然采用均匀量化将元素进行</a:t>
            </a:r>
            <a:r>
              <a:rPr lang="en-US" altLang="zh-CN" sz="1800" dirty="0"/>
              <a:t>k</a:t>
            </a:r>
            <a:r>
              <a:rPr lang="zh-CN" altLang="en-US" sz="1800" dirty="0"/>
              <a:t>级表示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Lambda</a:t>
            </a:r>
            <a:r>
              <a:rPr lang="zh-CN" altLang="en-US" sz="1800" dirty="0"/>
              <a:t>参数控制扩展维度大小，</a:t>
            </a:r>
            <a:r>
              <a:rPr lang="en-US" altLang="zh-CN" sz="1800" dirty="0"/>
              <a:t>D=λ*d</a:t>
            </a:r>
            <a:r>
              <a:rPr lang="zh-CN" altLang="en-US" sz="1800" dirty="0"/>
              <a:t>，</a:t>
            </a:r>
            <a:r>
              <a:rPr lang="en-US" altLang="zh-CN" sz="1800" dirty="0"/>
              <a:t>d=50890</a:t>
            </a:r>
            <a:r>
              <a:rPr lang="zh-CN" altLang="en-US" sz="1800" dirty="0"/>
              <a:t>；例如</a:t>
            </a:r>
            <a:r>
              <a:rPr lang="en-US" altLang="zh-CN" sz="1800" dirty="0"/>
              <a:t>lam=2</a:t>
            </a:r>
            <a:r>
              <a:rPr lang="zh-CN" altLang="en-US" sz="1800" dirty="0"/>
              <a:t>，</a:t>
            </a:r>
            <a:r>
              <a:rPr lang="en-US" altLang="zh-CN" sz="1800" dirty="0"/>
              <a:t>D=2*50890=101780</a:t>
            </a:r>
            <a:r>
              <a:rPr lang="zh-CN" altLang="en-US" sz="1800" dirty="0"/>
              <a:t>，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若使用四级量化，则</a:t>
            </a:r>
            <a:r>
              <a:rPr lang="zh-CN" altLang="zh-CN" sz="1800" dirty="0"/>
              <a:t>每个客户端每个原始参数维度累计发送 bit</a:t>
            </a:r>
            <a:r>
              <a:rPr lang="zh-CN" altLang="en-US" sz="1800" dirty="0"/>
              <a:t>数为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</a:t>
            </a:r>
          </a:p>
          <a:p>
            <a:pPr marL="0" indent="0">
              <a:buNone/>
            </a:pPr>
            <a:r>
              <a:rPr lang="en-US" altLang="zh-CN" sz="1800" dirty="0"/>
              <a:t>                                             =4</a:t>
            </a:r>
          </a:p>
          <a:p>
            <a:pPr marL="0" indent="0">
              <a:buNone/>
            </a:pP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2FB211-0586-3F61-7D26-0628C626F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37" y="4001294"/>
            <a:ext cx="2037347" cy="96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1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C4F60044-6828-E50A-AFD9-83D63FA5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9" y="179294"/>
            <a:ext cx="4258235" cy="5078506"/>
          </a:xfrm>
        </p:spPr>
        <p:txBody>
          <a:bodyPr>
            <a:normAutofit/>
          </a:bodyPr>
          <a:lstStyle/>
          <a:p>
            <a:endParaRPr lang="en-US" altLang="zh-CN" sz="1600" dirty="0"/>
          </a:p>
          <a:p>
            <a:r>
              <a:rPr lang="zh-CN" altLang="en-US" sz="1600" dirty="0"/>
              <a:t>参考赵老师的建议在同一图内对比</a:t>
            </a:r>
            <a:r>
              <a:rPr lang="en-US" altLang="zh-CN" sz="1600" dirty="0" err="1"/>
              <a:t>srk</a:t>
            </a:r>
            <a:r>
              <a:rPr lang="zh-CN" altLang="en-US" sz="1600" dirty="0"/>
              <a:t>及</a:t>
            </a:r>
            <a:r>
              <a:rPr lang="en-US" altLang="zh-CN" sz="1600" dirty="0" err="1"/>
              <a:t>kashin</a:t>
            </a:r>
            <a:r>
              <a:rPr lang="zh-CN" altLang="en-US" sz="1600" dirty="0"/>
              <a:t>方法，横轴为通信开销，纵轴为多轮联邦学习最高的准确率。</a:t>
            </a:r>
            <a:r>
              <a:rPr lang="en-US" altLang="zh-CN" sz="1600" dirty="0" err="1"/>
              <a:t>Srk</a:t>
            </a:r>
            <a:r>
              <a:rPr lang="zh-CN" altLang="en-US" sz="1600" dirty="0"/>
              <a:t>三种发送比特为</a:t>
            </a:r>
            <a:r>
              <a:rPr lang="en-US" altLang="zh-CN" sz="1600" dirty="0"/>
              <a:t>B=2,4,8,16</a:t>
            </a:r>
            <a:r>
              <a:rPr lang="zh-CN" altLang="en-US" sz="1600" dirty="0"/>
              <a:t>，对应图上四个点。理论上通信量增加可以使准确率提高，但是四个点没有表现出单增的趋势。</a:t>
            </a:r>
            <a:endParaRPr lang="en-US" altLang="zh-CN" sz="1600" dirty="0"/>
          </a:p>
          <a:p>
            <a:r>
              <a:rPr lang="zh-CN" altLang="en-US" sz="1600" dirty="0"/>
              <a:t>同时</a:t>
            </a:r>
            <a:r>
              <a:rPr lang="en-US" altLang="zh-CN" sz="1600" dirty="0" err="1"/>
              <a:t>kashin</a:t>
            </a:r>
            <a:r>
              <a:rPr lang="zh-CN" altLang="en-US" sz="1600" dirty="0"/>
              <a:t>方法根据发送比特</a:t>
            </a:r>
            <a:r>
              <a:rPr lang="en-US" altLang="zh-CN" sz="1600" dirty="0"/>
              <a:t>b=2,4,8</a:t>
            </a:r>
            <a:r>
              <a:rPr lang="zh-CN" altLang="en-US" sz="1600" dirty="0"/>
              <a:t>有三条线，根据</a:t>
            </a:r>
            <a:r>
              <a:rPr lang="en-US" altLang="zh-CN" sz="1600" dirty="0"/>
              <a:t>lam=1,1.5,2,2.5,3</a:t>
            </a:r>
            <a:r>
              <a:rPr lang="zh-CN" altLang="en-US" sz="1600" dirty="0"/>
              <a:t>产生的四个点描出。也可以看出没有随着通信量增加，即</a:t>
            </a:r>
            <a:r>
              <a:rPr lang="en-US" altLang="zh-CN" sz="1600" dirty="0"/>
              <a:t>lam</a:t>
            </a:r>
            <a:r>
              <a:rPr lang="zh-CN" altLang="en-US" sz="1600" dirty="0"/>
              <a:t>变大，而对准确率产生增的效果，而是不规律的波动。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F64EAA-8D9A-2565-BA14-D1AD4F21A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6194611" cy="3716766"/>
          </a:xfrm>
          <a:prstGeom prst="rect">
            <a:avLst/>
          </a:prstGeom>
        </p:spPr>
      </p:pic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08AA69FA-639F-B9EF-76F6-5837432EA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3684494"/>
            <a:ext cx="5244354" cy="3146612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92616B46-7BA7-6DE5-F005-5FF64EA657F0}"/>
              </a:ext>
            </a:extLst>
          </p:cNvPr>
          <p:cNvSpPr txBox="1">
            <a:spLocks/>
          </p:cNvSpPr>
          <p:nvPr/>
        </p:nvSpPr>
        <p:spPr>
          <a:xfrm>
            <a:off x="7557246" y="4148231"/>
            <a:ext cx="394895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此图体现每轮的准确率提升与总的通信开销的关系，可能由于轮数较少，准确率收敛效果不明显，有的组还在上升阶段。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175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12E465C7-FDA1-388A-BDB7-0FDCA8711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012" y="365125"/>
            <a:ext cx="5006788" cy="1325563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将轮数增加至</a:t>
            </a:r>
            <a:r>
              <a:rPr lang="en-US" altLang="zh-CN" sz="1800" dirty="0"/>
              <a:t>50</a:t>
            </a:r>
            <a:r>
              <a:rPr lang="zh-CN" altLang="en-US" sz="1800" dirty="0"/>
              <a:t>可以看出准确率收敛效果较好，每轮变化不大，但是准确率和通信开销的关系仍然没有很好体现。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7DF1DB1-C9DE-832B-1E2A-349E63412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593053"/>
            <a:ext cx="5441576" cy="3264945"/>
          </a:xfrm>
          <a:prstGeom prst="rect">
            <a:avLst/>
          </a:prstGeom>
        </p:spPr>
      </p:pic>
      <p:pic>
        <p:nvPicPr>
          <p:cNvPr id="17" name="内容占位符 16">
            <a:extLst>
              <a:ext uri="{FF2B5EF4-FFF2-40B4-BE49-F238E27FC236}">
                <a16:creationId xmlns:a16="http://schemas.microsoft.com/office/drawing/2014/main" id="{4891B442-A510-B6FF-1DE2-6BCE881BA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286435" cy="3639670"/>
          </a:xfrm>
        </p:spPr>
      </p:pic>
    </p:spTree>
    <p:extLst>
      <p:ext uri="{BB962C8B-B14F-4D97-AF65-F5344CB8AC3E}">
        <p14:creationId xmlns:p14="http://schemas.microsoft.com/office/powerpoint/2010/main" val="217924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4D0E2-98B2-CC5D-3128-B702DD795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2" y="221690"/>
            <a:ext cx="10839535" cy="4063707"/>
          </a:xfrm>
        </p:spPr>
        <p:txBody>
          <a:bodyPr>
            <a:normAutofit fontScale="90000"/>
          </a:bodyPr>
          <a:lstStyle/>
          <a:p>
            <a:r>
              <a:rPr lang="zh-CN" altLang="en-US" sz="3600" dirty="0"/>
              <a:t>原因分析</a:t>
            </a:r>
            <a:br>
              <a:rPr lang="en-US" altLang="zh-CN" sz="3600" dirty="0"/>
            </a:br>
            <a:r>
              <a:rPr lang="en-US" altLang="zh-CN" sz="3600" dirty="0"/>
              <a:t>1.</a:t>
            </a:r>
            <a:r>
              <a:rPr lang="zh-CN" altLang="en-US" sz="3600" dirty="0"/>
              <a:t>单种子实验的单次误差，可以进行多种子实验进行平均处理</a:t>
            </a:r>
            <a:br>
              <a:rPr lang="en-US" altLang="zh-CN" sz="3600" dirty="0"/>
            </a:br>
            <a:r>
              <a:rPr lang="en-US" altLang="zh-CN" sz="3600" dirty="0"/>
              <a:t>2.</a:t>
            </a:r>
            <a:r>
              <a:rPr lang="zh-CN" altLang="en-US" sz="3600" dirty="0"/>
              <a:t>在</a:t>
            </a:r>
            <a:r>
              <a:rPr lang="en-US" altLang="zh-CN" sz="3600" dirty="0"/>
              <a:t>mnist10000</a:t>
            </a:r>
            <a:r>
              <a:rPr lang="zh-CN" altLang="en-US" sz="3600" dirty="0"/>
              <a:t>张测试图片有</a:t>
            </a:r>
            <a:r>
              <a:rPr lang="en-US" altLang="zh-CN" sz="3600" dirty="0"/>
              <a:t>0.3%</a:t>
            </a:r>
            <a:r>
              <a:rPr lang="zh-CN" altLang="en-US" sz="3600" dirty="0"/>
              <a:t>单点评估噪声，而量化等级</a:t>
            </a:r>
            <a:r>
              <a:rPr lang="en-US" altLang="zh-CN" sz="3600" dirty="0"/>
              <a:t>b=4/8</a:t>
            </a:r>
            <a:r>
              <a:rPr lang="zh-CN" altLang="en-US" sz="3600" dirty="0"/>
              <a:t>这</a:t>
            </a:r>
            <a:r>
              <a:rPr lang="zh-CN" altLang="en-US" sz="3600"/>
              <a:t>类较大量化等级带来</a:t>
            </a:r>
            <a:r>
              <a:rPr lang="zh-CN" altLang="en-US" sz="3600" dirty="0"/>
              <a:t>的精度提升不如噪声影响，所以导致无规律</a:t>
            </a:r>
            <a:r>
              <a:rPr lang="en-US" altLang="zh-CN" sz="3600" dirty="0"/>
              <a:t>?</a:t>
            </a:r>
            <a:br>
              <a:rPr lang="en-US" altLang="zh-CN" sz="3600" dirty="0"/>
            </a:br>
            <a:r>
              <a:rPr lang="en-US" altLang="zh-CN" sz="3600" dirty="0"/>
              <a:t>3.</a:t>
            </a:r>
            <a:r>
              <a:rPr lang="zh-CN" altLang="en-US" sz="3600" dirty="0"/>
              <a:t>同理</a:t>
            </a:r>
            <a:r>
              <a:rPr lang="en-US" altLang="zh-CN" sz="3600" dirty="0"/>
              <a:t>lam</a:t>
            </a:r>
            <a:r>
              <a:rPr lang="zh-CN" altLang="en-US" sz="3600" dirty="0"/>
              <a:t>的变化可能也不及噪声影响，导致规律不明显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471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356</Words>
  <Application>Microsoft Office PowerPoint</Application>
  <PresentationFormat>宽屏</PresentationFormat>
  <Paragraphs>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1.Kashin transform细节</vt:lpstr>
      <vt:lpstr>PowerPoint 演示文稿</vt:lpstr>
      <vt:lpstr>将轮数增加至50可以看出准确率收敛效果较好，每轮变化不大，但是准确率和通信开销的关系仍然没有很好体现。</vt:lpstr>
      <vt:lpstr>原因分析 1.单种子实验的单次误差，可以进行多种子实验进行平均处理 2.在mnist10000张测试图片有0.3%单点评估噪声，而量化等级b=4/8这类较大量化等级带来的精度提升不如噪声影响，所以导致无规律? 3.同理lam的变化可能也不及噪声影响，导致规律不明显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Haocheng Zhang</dc:creator>
  <cp:lastModifiedBy>Haocheng Zhang</cp:lastModifiedBy>
  <cp:revision>2</cp:revision>
  <dcterms:created xsi:type="dcterms:W3CDTF">2026-09-14T02:26:15Z</dcterms:created>
  <dcterms:modified xsi:type="dcterms:W3CDTF">2026-09-14T09:11:58Z</dcterms:modified>
</cp:coreProperties>
</file>