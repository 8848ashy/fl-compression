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a45bb35e9546c2" /><Relationship Type="http://schemas.openxmlformats.org/officeDocument/2006/relationships/extended-properties" Target="/docProps/app.xml" Id="Rd7723fa1696b4c5d" /><Relationship Type="http://schemas.openxmlformats.org/officeDocument/2006/relationships/officeDocument" Target="/ppt/presentation.xml" Id="R58430edd6d4047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053c37491b4501"/>
  </p:sldMasterIdLst>
  <p:notesMasterIdLst>
    <p:notesMasterId xmlns:r="http://schemas.openxmlformats.org/officeDocument/2006/relationships" r:id="R8c76530cdb044263"/>
  </p:notesMasterIdLst>
  <p:sldIdLst>
    <p:sldId xmlns:r="http://schemas.openxmlformats.org/officeDocument/2006/relationships" id="256" r:id="R7915683b3cdc4fd0"/>
    <p:sldId xmlns:r="http://schemas.openxmlformats.org/officeDocument/2006/relationships" id="257" r:id="R5f999e2f19384a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5371f127ec4244" /><Relationship Type="http://schemas.openxmlformats.org/officeDocument/2006/relationships/slideMaster" Target="/ppt/slideMasters/slideMaster1.xml" Id="R8b053c37491b4501" /><Relationship Type="http://schemas.openxmlformats.org/officeDocument/2006/relationships/notesMaster" Target="/ppt/notesMasters/notesMaster1.xml" Id="R8c76530cdb044263" /><Relationship Type="http://schemas.openxmlformats.org/officeDocument/2006/relationships/presProps" Target="/ppt/presProps.xml" Id="R07370e8ec7ab4f09" /><Relationship Type="http://schemas.openxmlformats.org/officeDocument/2006/relationships/tableStyles" Target="/ppt/tableStyles.xml" Id="R59f8a1e65ae24569" /><Relationship Type="http://schemas.openxmlformats.org/officeDocument/2006/relationships/slide" Target="/ppt/slides/slide1.xml" Id="R7915683b3cdc4fd0" /><Relationship Type="http://schemas.openxmlformats.org/officeDocument/2006/relationships/slide" Target="/ppt/slides/slide2.xml" Id="R5f999e2f19384a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1eddff094345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d4586fb54d4cbc" /><Relationship Type="http://schemas.openxmlformats.org/officeDocument/2006/relationships/notesMaster" Target="/ppt/notesMasters/notesMaster1.xml" Id="R6d94bdbebef04d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e53235f42d4cf1" /><Relationship Type="http://schemas.openxmlformats.org/officeDocument/2006/relationships/notesMaster" Target="/ppt/notesMasters/notesMaster1.xml" Id="R94a65c3b293644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依据：D:\FL\experiments\exp0_simple1bit_compare.py、D:\FL\experiments\exp1_1bit_2bit_noscale_compare.py、D:\FL\compression\srk.py、D:\FL\compression\kashin_frame.py。流程是对仓库当前实现的归纳。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依据：D:\FL\experiments\exp0_simple1bit_compare.py；D:\FL\experiments\exp1_1bit_2bit_noscale_compare.py；D:\FL\compression\srk.py；D:\FL\compression\kashin_frame.py；D:\FL\compression\kashin_solver.py。说明：Hadamard 的 exp1 seed 固定，exp0 seed 随轮次变化；Kashin frame 在 exp1 中使用 Fourier 紧框架，不是 FWHT。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e75223b7941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e6c2732034e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f7b9e59e54f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8cbc1308f4e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56396d9b34a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e103750db47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2D6A8A-9F68-4D5A-9825-3BAA202DD3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B90313-9EB0-4F99-9F84-E1FB73A1E7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6A03CB-BCDA-446A-A562-08B4DFCEB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5C8AE8-ACCA-4DDD-8809-8B74B594C7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165191-6E71-49AC-8BB2-E0FB00EC77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A1CC0C-841A-4E2E-B2D9-8E3C1EBA06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8DCD1B-EF29-4C12-9A64-835BD84BCC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302AFC-C259-486F-B184-B3764840AB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CB3621-A052-4AAD-966C-052A057106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EEC28B-3C3B-4603-AA53-3C56C6BD83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f0e00f54e425e" /><Relationship Type="http://schemas.openxmlformats.org/officeDocument/2006/relationships/slideLayout" Target="/ppt/slideLayouts/slideLayout1.xml" Id="Rfcc5252550084c7d" /><Relationship Type="http://schemas.openxmlformats.org/officeDocument/2006/relationships/slideLayout" Target="/ppt/slideLayouts/slideLayout2.xml" Id="Rc910dba07cb249ae" /><Relationship Type="http://schemas.openxmlformats.org/officeDocument/2006/relationships/slideLayout" Target="/ppt/slideLayouts/slideLayout3.xml" Id="Re2004eb84c814a9f" /><Relationship Type="http://schemas.openxmlformats.org/officeDocument/2006/relationships/slideLayout" Target="/ppt/slideLayouts/slideLayout4.xml" Id="R8168eae34cf84ff7" /><Relationship Type="http://schemas.openxmlformats.org/officeDocument/2006/relationships/slideLayout" Target="/ppt/slideLayouts/slideLayout5.xml" Id="R7f14a095e2584d75" /><Relationship Type="http://schemas.openxmlformats.org/officeDocument/2006/relationships/slideLayout" Target="/ppt/slideLayouts/slideLayout6.xml" Id="R0b18ba92fee940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c5252550084c7d"/>
    <p:sldLayoutId xmlns:r="http://schemas.openxmlformats.org/officeDocument/2006/relationships" id="2147483650" r:id="Rc910dba07cb249ae"/>
    <p:sldLayoutId xmlns:r="http://schemas.openxmlformats.org/officeDocument/2006/relationships" id="2147483651" r:id="Re2004eb84c814a9f"/>
    <p:sldLayoutId xmlns:r="http://schemas.openxmlformats.org/officeDocument/2006/relationships" id="2147483652" r:id="R8168eae34cf84ff7"/>
    <p:sldLayoutId xmlns:r="http://schemas.openxmlformats.org/officeDocument/2006/relationships" id="2147483653" r:id="R7f14a095e2584d75"/>
    <p:sldLayoutId xmlns:r="http://schemas.openxmlformats.org/officeDocument/2006/relationships" id="2147483654" r:id="R0b18ba92fee940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b0cd1ad04420e" /><Relationship Type="http://schemas.openxmlformats.org/officeDocument/2006/relationships/notesSlide" Target="/ppt/notesSlides/notesSlide1.xml" Id="R1f105acc7cc24d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2ba97c15e14153" /><Relationship Type="http://schemas.openxmlformats.org/officeDocument/2006/relationships/notesSlide" Target="/ppt/notesSlides/notesSlide2.xml" Id="R544b5ba9fb7240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13E3D0-033A-4B0F-8A17-5E10FC85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压缩实验的端到端流程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B989C-26E6-4372-BF09-16BEC8BA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rPr>
              <a:t>把客户端压缩器与联邦聚合/更新分开看：六个环节可对齐，具体算法只替换其中几步。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F83EE-9A23-4993-B18C-CA7F811C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76889-7A6C-4CCF-AC0F-5868D447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381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C85C7-3873-45C6-BF73-99531501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54924-497B-45EF-8517-8B1C5BFC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86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68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8A6"/>
                </a:solidFill>
                <a:latin typeface="Arial"/>
                <a:ea typeface="Arial"/>
                <a:cs typeface="Arial"/>
              </a:rPr>
              <a:t>01–02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AE0F7-7DD4-4992-A25F-CFDBEBBF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客户端输入与表示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C062D-978B-4449-9F49-0164E9C8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BA4D7-F9E9-466A-B2FB-74B8D4C6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000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本地更新  Δ = w_local − w_t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Raw：原空间</a:t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Hadamard：随机符号掩码 + FWHT</a:t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Kashin：Fourier 紧框架系数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05C6D-C9F2-4B8F-9683-BC5BC859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2381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88E0F-7BDB-494D-8CD2-39EE3540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5E547-CDE3-47B9-898A-D2F22B01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68A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68A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8A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A1D7E-D089-423B-ADBB-D8CBC5EA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编码与量化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D336F-6127-433F-9BE9-A7E7AD2C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62275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76842-96AA-48DB-821F-47EE0A0E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14675"/>
            <a:ext cx="2000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1-bit：符号编码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2/3-bit：固定 clip 区间内随机舍入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exp1 的 clip 由首轮 p99.5 标定，后续固定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5D859-6783-4F95-B12A-992674AC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2381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FE470-8E8A-4AB6-88C9-3E6C5FD5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93F62-14AD-40E5-9C65-0B4DA3FC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76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76A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6A2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0B45B-2239-4DDE-A527-FA458315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信道负载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56B88-4866-46A6-887C-93424085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62275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837FC-8D06-4C12-9B6B-76E14741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4675"/>
            <a:ext cx="2000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Raw：d × 32-bit 浮点数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压缩向量：d × b 或 D × b 位索引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seed 预先约定；不逐轮发送动态 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8A1767-8B59-4121-99FA-027A0380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43100"/>
            <a:ext cx="2381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6272E-540A-43E2-89D7-2D1C3781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4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1C394-776A-47B8-8706-E9381968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156A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156A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156A5"/>
                </a:solidFill>
                <a:latin typeface="Arial"/>
                <a:ea typeface="Arial"/>
                <a:cs typeface="Arial"/>
              </a:rPr>
              <a:t>05–06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AF92DE-36D8-45CA-8FBE-9C728435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服务器解码与更新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5B3538-34DC-4011-B5D8-A62079B6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62275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CDEB8-E503-4656-AAD9-C87B26D4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14675"/>
            <a:ext cx="2000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查表还原量化值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Hadamard：逆 FWHT 并裁回 d 维</a:t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Kashin：框架合成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w_{t+1} = w_t + Δ̂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CD7452-281C-41E6-8219-C8D9E938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025"/>
            <a:ext cx="228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FCDCBF-04AE-41E0-AB6D-6BFD0A2F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48025"/>
            <a:ext cx="228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23BEA2-DBA9-48D5-943E-E6CFCE14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48025"/>
            <a:ext cx="228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53EE96-DF7B-4E5A-A3B8-83A82D8F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8C2CE6-B557-4AB3-973D-0C765854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86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86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68A6"/>
                </a:solidFill>
                <a:latin typeface="Microsoft YaHei"/>
                <a:ea typeface="Microsoft YaHei"/>
                <a:cs typeface="Microsoft YaHei"/>
              </a:rPr>
              <a:t>层级边界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ECFDE7-2BC6-45BA-9B8B-FDFFF8CD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292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FedAvg 规定本地训练后的聚合与模型更新；SignSGD、Hadamard、Kashin 描述更新如何编码/传输。它们可以组合，不能当作同一层的互斥算法。</a:t>
            </a:r>
          </a:p>
        </p:txBody>
      </p:sp>
    </p:spTree>
    <p:extLst>
      <p:ext uri="{BB962C8B-B14F-4D97-AF65-F5344CB8AC3E}">
        <p14:creationId xmlns:p14="http://schemas.microsoft.com/office/powerpoint/2010/main" val="20317469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5C790-96F8-49B3-A7AE-F83E32A3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实验方法与通信协议对齐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3C4A3-A71E-42E4-AB68-59279CB6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rPr>
              <a:t>按“表示变换 → 量化 → 负载/缩放 → 解码/更新”比较；配置取自当前 exp0、exp1 代码。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65153-80E2-423A-808E-69992188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129EA-0C70-49C0-8136-58590E485DC8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95450"/>
                <a:gridCol w="2857500"/>
                <a:gridCol w="3143250"/>
                <a:gridCol w="3276600"/>
              </a:tblGrid>
              <a:tr h="4572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 1–2｜输入与表示变换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 3｜编码与量化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 4–6｜负载、解码与更新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</a:tr>
              <a:tr h="7239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FedAvg</a:t>
                      </a:r>
                    </a:p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未压缩参考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 Δ ∈ Rᵈ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无掩码、无变换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不量化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 FP32 浮点数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32d bit/客户端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样本量加权聚合，再更新全局模型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Raw / SignSGD</a:t>
                      </a:r>
                    </a:p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2 / 3-bit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原空间 Δ ∈ Rᵈ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无旋转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1-bit：确定性 sign × 固定 clip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2/3-bit：固定区间随机舍入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× b 位索引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不传动态 Scale；还原值直接作为更新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11049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Hadamard</a:t>
                      </a:r>
                    </a:p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2 / 3-bit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补零至 D=2^⌈log₂d⌉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R=HDₛ：随机符号掩码 + 归一化 FWHT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exp1 固定 seed；exp0 每轮换 seed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exp1：1-bit sign × 固定 clip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2/3-bit 固定区间随机舍入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× b 位索引；seed 预先共享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逆 FWHT、裁回 d 维后更新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Kashin</a:t>
                      </a:r>
                    </a:p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λ = 1.15 / 1.3 / 1.6 / 2.0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Fourier 紧框架，D≈λd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迭代求 Kashin 系数（exp1 为 25 次）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1-bit sign × 固定 clip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2/3-bit 固定区间随机舍入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× b 位索引；不传动态 Scale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框架合成还原后更新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9294D-67B9-4805-AAB1-EA22094E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3F56D-2962-495F-9AE2-26F6AB10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912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76A2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76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6A25"/>
                </a:solidFill>
                <a:latin typeface="Microsoft YaHei"/>
                <a:ea typeface="Microsoft YaHei"/>
                <a:cs typeface="Microsoft YaHei"/>
              </a:rPr>
              <a:t>实现差异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B519B-85E2-4B2F-9F85-217FB1FD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43600"/>
            <a:ext cx="960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63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63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exp0 另有“逆变换后再取 sign”的更新投影；exp1 的表内量化采用首轮 p99.5 标定并固定的 clip。表中位数按索引负载估算，不含协议头。</a:t>
            </a:r>
          </a:p>
        </p:txBody>
      </p:sp>
    </p:spTree>
    <p:extLst>
      <p:ext uri="{BB962C8B-B14F-4D97-AF65-F5344CB8AC3E}">
        <p14:creationId xmlns:p14="http://schemas.microsoft.com/office/powerpoint/2010/main" val="262357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2026-10-19T14:01:11.8590000Z</dcterms:created>
  <dcterms:modified xsi:type="dcterms:W3CDTF">2026-10-19T14:01:11.8590000Z</dcterms:modified>
</coreProperties>
</file>